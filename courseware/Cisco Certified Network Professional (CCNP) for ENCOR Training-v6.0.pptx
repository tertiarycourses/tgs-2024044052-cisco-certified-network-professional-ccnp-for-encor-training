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67" r:id="rId218"/>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the ENCOR exam (%)</c:v>
                </c:pt>
              </c:strCache>
            </c:strRef>
          </c:tx>
          <c:spPr>
            <a:solidFill>
              <a:srgbClr val="1F6FEB"/>
            </a:solidFill>
          </c:spPr>
          <c:cat>
            <c:strRef>
              <c:f>Sheet1!$A$2:$A$7</c:f>
              <c:strCache>
                <c:ptCount val="6"/>
                <c:pt idx="0">
                  <c:v>01 Enterprise Architecture</c:v>
                </c:pt>
                <c:pt idx="1">
                  <c:v>02 Virtualization Technologies</c:v>
                </c:pt>
                <c:pt idx="2">
                  <c:v>03 Network Infrastructure</c:v>
                </c:pt>
                <c:pt idx="3">
                  <c:v>04 Network Assurance</c:v>
                </c:pt>
                <c:pt idx="4">
                  <c:v>05 Network Security</c:v>
                </c:pt>
                <c:pt idx="5">
                  <c:v>06 Network Automation</c:v>
                </c:pt>
              </c:strCache>
            </c:strRef>
          </c:cat>
          <c:val>
            <c:numRef>
              <c:f>Sheet1!$B$2:$B$7</c:f>
              <c:numCache>
                <c:formatCode>0"%"</c:formatCode>
                <c:ptCount val="6"/>
                <c:pt idx="0">
                  <c:v>15</c:v>
                </c:pt>
                <c:pt idx="1">
                  <c:v>10</c:v>
                </c:pt>
                <c:pt idx="2">
                  <c:v>30</c:v>
                </c:pt>
                <c:pt idx="3">
                  <c:v>10</c:v>
                </c:pt>
                <c:pt idx="4">
                  <c:v>20</c:v>
                </c:pt>
                <c:pt idx="5">
                  <c:v>15</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Full mesh, no core</c:v>
                </c:pt>
              </c:strCache>
            </c:strRef>
          </c:tx>
          <c:spPr>
            <a:solidFill>
              <a:srgbClr val="1F6FEB"/>
            </a:solidFill>
          </c:spPr>
          <c:cat>
            <c:strRef>
              <c:f>Sheet1!$A$2:$A$6</c:f>
              <c:strCache>
                <c:ptCount val="5"/>
                <c:pt idx="0">
                  <c:v>2 blocks</c:v>
                </c:pt>
                <c:pt idx="1">
                  <c:v>3 blocks</c:v>
                </c:pt>
                <c:pt idx="2">
                  <c:v>4 blocks</c:v>
                </c:pt>
                <c:pt idx="3">
                  <c:v>5 blocks</c:v>
                </c:pt>
                <c:pt idx="4">
                  <c:v>6 blocks</c:v>
                </c:pt>
              </c:strCache>
            </c:strRef>
          </c:cat>
          <c:val>
            <c:numRef>
              <c:f>Sheet1!$B$2:$B$6</c:f>
              <c:numCache>
                <c:formatCode>0</c:formatCode>
                <c:ptCount val="5"/>
                <c:pt idx="0">
                  <c:v>1</c:v>
                </c:pt>
                <c:pt idx="1">
                  <c:v>3</c:v>
                </c:pt>
                <c:pt idx="2">
                  <c:v>6</c:v>
                </c:pt>
                <c:pt idx="3">
                  <c:v>10</c:v>
                </c:pt>
                <c:pt idx="4">
                  <c:v>15</c:v>
                </c:pt>
              </c:numCache>
            </c:numRef>
          </c:val>
        </c:ser>
        <c:ser>
          <c:idx val="1"/>
          <c:order val="1"/>
          <c:tx>
            <c:strRef>
              <c:f>Sheet1!$C$1</c:f>
              <c:strCache>
                <c:ptCount val="1"/>
                <c:pt idx="0">
                  <c:v>With a dedicated core</c:v>
                </c:pt>
              </c:strCache>
            </c:strRef>
          </c:tx>
          <c:spPr>
            <a:solidFill>
              <a:srgbClr val="10B981"/>
            </a:solidFill>
          </c:spPr>
          <c:cat>
            <c:strRef>
              <c:f>Sheet1!$A$2:$A$6</c:f>
              <c:strCache>
                <c:ptCount val="5"/>
                <c:pt idx="0">
                  <c:v>2 blocks</c:v>
                </c:pt>
                <c:pt idx="1">
                  <c:v>3 blocks</c:v>
                </c:pt>
                <c:pt idx="2">
                  <c:v>4 blocks</c:v>
                </c:pt>
                <c:pt idx="3">
                  <c:v>5 blocks</c:v>
                </c:pt>
                <c:pt idx="4">
                  <c:v>6 blocks</c:v>
                </c:pt>
              </c:strCache>
            </c:strRef>
          </c:cat>
          <c:val>
            <c:numRef>
              <c:f>Sheet1!$C$2:$C$6</c:f>
              <c:numCache>
                <c:formatCode>0</c:formatCode>
                <c:ptCount val="5"/>
                <c:pt idx="0">
                  <c:v>2</c:v>
                </c:pt>
                <c:pt idx="1">
                  <c:v>3</c:v>
                </c:pt>
                <c:pt idx="2">
                  <c:v>4</c:v>
                </c:pt>
                <c:pt idx="3">
                  <c:v>5</c:v>
                </c:pt>
                <c:pt idx="4">
                  <c:v>6</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ccnp-encor-badge.png"/>
          <p:cNvPicPr>
            <a:picLocks noChangeAspect="1"/>
          </p:cNvPicPr>
          <p:nvPr/>
        </p:nvPicPr>
        <p:blipFill>
          <a:blip r:embed="rId3"/>
          <a:stretch>
            <a:fillRect/>
          </a:stretch>
        </p:blipFill>
        <p:spPr>
          <a:xfrm>
            <a:off x="9464040" y="548640"/>
            <a:ext cx="2011680" cy="1323404"/>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Cisco Certified Network Professional (CCNP) for ENCOR Training</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TGS-2024044052</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v6.0  ·  7 September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Enterprise networking, Cisco routing and switching, network security and network automation.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CCNA, CCNP Enterprise, network security and infrastructure automation.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networking experience — CCNA, hands-on with Cisco IOS, or new to enterprise networking.</a:t>
            </a:r>
          </a:p>
          <a:p>
            <a:pPr>
              <a:spcAft>
                <a:spcPts val="1000"/>
              </a:spcAft>
            </a:pPr>
            <a:r>
              <a:rPr sz="2000" b="0">
                <a:solidFill>
                  <a:srgbClr val="161B26"/>
                </a:solidFill>
                <a:latin typeface="Arial"/>
              </a:rPr>
              <a:t>•  The network you look after today: campus, branch, data centre or wireless.</a:t>
            </a:r>
          </a:p>
          <a:p>
            <a:pPr>
              <a:spcAft>
                <a:spcPts val="1000"/>
              </a:spcAft>
            </a:pPr>
            <a:r>
              <a:rPr sz="2000" b="0">
                <a:solidFill>
                  <a:srgbClr val="161B26"/>
                </a:solidFill>
                <a:latin typeface="Arial"/>
              </a:rPr>
              <a:t>•  What you want to be able to configure or troubleshoot by Friday.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'Cisco Certified Network Professional (CCNP) for ENCOR Training'.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labs folder link on the course page for every Packet Tracer topology.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STEP BY STEP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to 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Open the LMS</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lms-tms.tertiaryinfotech.com</a:t>
            </a:r>
          </a:p>
        </p:txBody>
      </p:sp>
      <p:cxnSp>
        <p:nvCxnSpPr>
          <p:cNvPr id="13" name="Connector 12"/>
          <p:cNvCxnSpPr/>
          <p:nvPr/>
        </p:nvCxnSpPr>
        <p:spPr>
          <a:xfrm>
            <a:off x="2651760"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Log in</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Your registration e-mail</a:t>
            </a:r>
          </a:p>
        </p:txBody>
      </p:sp>
      <p:cxnSp>
        <p:nvCxnSpPr>
          <p:cNvPr id="20" name="Connector 19"/>
          <p:cNvCxnSpPr/>
          <p:nvPr/>
        </p:nvCxnSpPr>
        <p:spPr>
          <a:xfrm>
            <a:off x="4855464"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Find this course</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CCNP ENCOR · TGS-2024044052</a:t>
            </a:r>
          </a:p>
        </p:txBody>
      </p:sp>
      <p:cxnSp>
        <p:nvCxnSpPr>
          <p:cNvPr id="27" name="Connector 26"/>
          <p:cNvCxnSpPr/>
          <p:nvPr/>
        </p:nvCxnSpPr>
        <p:spPr>
          <a:xfrm>
            <a:off x="7059168"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Open Courseware</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Slides · LG · LP · Labs</a:t>
            </a:r>
          </a:p>
        </p:txBody>
      </p:sp>
      <p:cxnSp>
        <p:nvCxnSpPr>
          <p:cNvPr id="34" name="Connector 33"/>
          <p:cNvCxnSpPr/>
          <p:nvPr/>
        </p:nvCxnSpPr>
        <p:spPr>
          <a:xfrm>
            <a:off x="9262872"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Download the PDFs</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Keep them for the open book</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BEFORE WE START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Download all four documents now — the assessment is open book, but only these approved materials are permitted.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TSC Title</a:t>
            </a:r>
          </a:p>
          <a:p>
            <a:pPr algn="l">
              <a:spcAft>
                <a:spcPts val="300"/>
              </a:spcAft>
            </a:pPr>
            <a:r>
              <a:rPr sz="1100" b="0">
                <a:solidFill>
                  <a:srgbClr val="5B6372"/>
                </a:solidFill>
                <a:latin typeface="Arial"/>
              </a:rPr>
              <a:t>Network Configuration</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TSC Code</a:t>
            </a:r>
          </a:p>
          <a:p>
            <a:pPr algn="l">
              <a:spcAft>
                <a:spcPts val="300"/>
              </a:spcAft>
            </a:pPr>
            <a:r>
              <a:rPr sz="1100" b="0">
                <a:solidFill>
                  <a:srgbClr val="5B6372"/>
                </a:solidFill>
                <a:latin typeface="Arial"/>
              </a:rPr>
              <a:t>ICT-DIT-3009-1.1</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K1 / A1</a:t>
            </a:r>
          </a:p>
          <a:p>
            <a:pPr algn="l">
              <a:spcAft>
                <a:spcPts val="300"/>
              </a:spcAft>
            </a:pPr>
            <a:r>
              <a:rPr sz="1100" b="0">
                <a:solidFill>
                  <a:srgbClr val="5B6372"/>
                </a:solidFill>
                <a:latin typeface="Arial"/>
              </a:rPr>
              <a:t>Key network components and their interdependencies; translating organisational to technical requirements.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K2 / A2</a:t>
            </a:r>
          </a:p>
          <a:p>
            <a:pPr algn="l">
              <a:spcAft>
                <a:spcPts val="300"/>
              </a:spcAft>
            </a:pPr>
            <a:r>
              <a:rPr sz="1100" b="0">
                <a:solidFill>
                  <a:srgbClr val="5B6372"/>
                </a:solidFill>
                <a:latin typeface="Arial"/>
              </a:rPr>
              <a:t>Techniques for implementing and configuring servers, devices and network components.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K3 / A3</a:t>
            </a:r>
          </a:p>
          <a:p>
            <a:pPr algn="l">
              <a:spcAft>
                <a:spcPts val="300"/>
              </a:spcAft>
            </a:pPr>
            <a:r>
              <a:rPr sz="1100" b="0">
                <a:solidFill>
                  <a:srgbClr val="5B6372"/>
                </a:solidFill>
                <a:latin typeface="Arial"/>
              </a:rPr>
              <a:t>Features of network management tools; implementing devices per the network blueprint.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K4 / A6</a:t>
            </a:r>
          </a:p>
          <a:p>
            <a:pPr algn="l">
              <a:spcAft>
                <a:spcPts val="300"/>
              </a:spcAft>
            </a:pPr>
            <a:r>
              <a:rPr sz="1100" b="0">
                <a:solidFill>
                  <a:srgbClr val="5B6372"/>
                </a:solidFill>
                <a:latin typeface="Arial"/>
              </a:rPr>
              <a:t>Configuration of network servers and devices; procedures for reporting and stability assessment.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K5 / A4</a:t>
            </a:r>
          </a:p>
          <a:p>
            <a:pPr algn="l">
              <a:spcAft>
                <a:spcPts val="300"/>
              </a:spcAft>
            </a:pPr>
            <a:r>
              <a:rPr sz="1100" b="0">
                <a:solidFill>
                  <a:srgbClr val="5B6372"/>
                </a:solidFill>
                <a:latin typeface="Arial"/>
              </a:rPr>
              <a:t>Network access management; managing user network access to organisational guidelines.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K6 / A5</a:t>
            </a:r>
          </a:p>
          <a:p>
            <a:pPr algn="l">
              <a:spcAft>
                <a:spcPts val="300"/>
              </a:spcAft>
            </a:pPr>
            <a:r>
              <a:rPr sz="1100" b="0">
                <a:solidFill>
                  <a:srgbClr val="5B6372"/>
                </a:solidFill>
                <a:latin typeface="Arial"/>
              </a:rPr>
              <a:t>Network tracking and assessment tools; identifying suitable network management tools.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 · Translate requirements</a:t>
            </a:r>
          </a:p>
          <a:p>
            <a:pPr algn="l">
              <a:spcAft>
                <a:spcPts val="300"/>
              </a:spcAft>
            </a:pPr>
            <a:r>
              <a:rPr sz="1100" b="0">
                <a:solidFill>
                  <a:srgbClr val="5B6372"/>
                </a:solidFill>
                <a:latin typeface="Arial"/>
              </a:rPr>
              <a:t>Translate organizational networking needs into technical configurations by selecting appropriate network components, considering their functions and interdependencies.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 · Select components</a:t>
            </a:r>
          </a:p>
          <a:p>
            <a:pPr algn="l">
              <a:spcAft>
                <a:spcPts val="300"/>
              </a:spcAft>
            </a:pPr>
            <a:r>
              <a:rPr sz="1100" b="0">
                <a:solidFill>
                  <a:srgbClr val="5B6372"/>
                </a:solidFill>
                <a:latin typeface="Arial"/>
              </a:rPr>
              <a:t>Identify and choose key network components for configuration, utilizing techniques in server and device implementation aligned with technical requirements.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 · Implement devices</a:t>
            </a:r>
          </a:p>
          <a:p>
            <a:pPr algn="l">
              <a:spcAft>
                <a:spcPts val="300"/>
              </a:spcAft>
            </a:pPr>
            <a:r>
              <a:rPr sz="1100" b="0">
                <a:solidFill>
                  <a:srgbClr val="5B6372"/>
                </a:solidFill>
                <a:latin typeface="Arial"/>
              </a:rPr>
              <a:t>Implement a variety of servers and devices effectively, following the organizational network blueprint to enhance network performance and reliability.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 · Manage access</a:t>
            </a:r>
          </a:p>
          <a:p>
            <a:pPr algn="l">
              <a:spcAft>
                <a:spcPts val="300"/>
              </a:spcAft>
            </a:pPr>
            <a:r>
              <a:rPr sz="1100" b="0">
                <a:solidFill>
                  <a:srgbClr val="5B6372"/>
                </a:solidFill>
                <a:latin typeface="Arial"/>
              </a:rPr>
              <a:t>Manage network access, ensuring compliance with organizational guidelines and specifications to maintain secure and efficient user connectivity.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 · Deploy tools</a:t>
            </a:r>
          </a:p>
          <a:p>
            <a:pPr algn="l">
              <a:spcAft>
                <a:spcPts val="300"/>
              </a:spcAft>
            </a:pPr>
            <a:r>
              <a:rPr sz="1100" b="0">
                <a:solidFill>
                  <a:srgbClr val="5B6372"/>
                </a:solidFill>
                <a:latin typeface="Arial"/>
              </a:rPr>
              <a:t>Select and deploy network management tools effectively, optimizing network performance and user experience in line with organizational needs.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LO6 · Report and assess</a:t>
            </a:r>
          </a:p>
          <a:p>
            <a:pPr algn="l">
              <a:spcAft>
                <a:spcPts val="300"/>
              </a:spcAft>
            </a:pPr>
            <a:r>
              <a:rPr sz="1100" b="0">
                <a:solidFill>
                  <a:srgbClr val="5B6372"/>
                </a:solidFill>
                <a:latin typeface="Arial"/>
              </a:rPr>
              <a:t>Conduct regular network reporting and administration, employing assessment tools to ensure network stability and alignment with organizational objectives.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TOPICS  ·  35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The Six ENCOR Exam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01 — Enterprise Architecture  ·  15%</a:t>
            </a:r>
          </a:p>
          <a:p>
            <a:pPr algn="l">
              <a:spcAft>
                <a:spcPts val="300"/>
              </a:spcAft>
            </a:pPr>
            <a:r>
              <a:rPr sz="1200" b="0">
                <a:solidFill>
                  <a:srgbClr val="5B6372"/>
                </a:solidFill>
                <a:latin typeface="Arial"/>
              </a:rPr>
              <a:t>Design principles · wireless design · SD-WAN · SD-Access · QoS · switching mechanisms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02 — Virtualization Technologies  ·  10%</a:t>
            </a:r>
          </a:p>
          <a:p>
            <a:pPr algn="l">
              <a:spcAft>
                <a:spcPts val="300"/>
              </a:spcAft>
            </a:pPr>
            <a:r>
              <a:rPr sz="1200" b="0">
                <a:solidFill>
                  <a:srgbClr val="5B6372"/>
                </a:solidFill>
                <a:latin typeface="Arial"/>
              </a:rPr>
              <a:t>Hypervisors · virtual machines · virtual switching · VRF · GRE and IPsec · LISP and VXLAN</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03 — Network Infrastructure  ·  30%</a:t>
            </a:r>
          </a:p>
          <a:p>
            <a:pPr algn="l">
              <a:spcAft>
                <a:spcPts val="300"/>
              </a:spcAft>
            </a:pPr>
            <a:r>
              <a:rPr sz="1200" b="0">
                <a:solidFill>
                  <a:srgbClr val="5B6372"/>
                </a:solidFill>
                <a:latin typeface="Arial"/>
              </a:rPr>
              <a:t>Layer 2 · Layer 3 routing · wireless · IP services — the largest exam domain</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04 — Network Assurance  ·  10%</a:t>
            </a:r>
          </a:p>
          <a:p>
            <a:pPr algn="l">
              <a:spcAft>
                <a:spcPts val="300"/>
              </a:spcAft>
            </a:pPr>
            <a:r>
              <a:rPr sz="1200" b="0">
                <a:solidFill>
                  <a:srgbClr val="5B6372"/>
                </a:solidFill>
                <a:latin typeface="Arial"/>
              </a:rPr>
              <a:t>Diagnostics · NetFlow · SPAN/RSPAN/ERSPAN · IP SLA · DNA Center · NETCONF and RESTCONF</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05 — Network Security  ·  20%</a:t>
            </a:r>
          </a:p>
          <a:p>
            <a:pPr algn="l">
              <a:spcAft>
                <a:spcPts val="300"/>
              </a:spcAft>
            </a:pPr>
            <a:r>
              <a:rPr sz="1200" b="0">
                <a:solidFill>
                  <a:srgbClr val="5B6372"/>
                </a:solidFill>
                <a:latin typeface="Arial"/>
              </a:rPr>
              <a:t>Device access control · AAA · ACLs and CoPP · REST API security · wireless security · security design</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600" b="1">
                <a:solidFill>
                  <a:srgbClr val="161B26"/>
                </a:solidFill>
                <a:latin typeface="Arial"/>
              </a:rPr>
              <a:t>Topic 06 — Network Automation  ·  15%</a:t>
            </a:r>
          </a:p>
          <a:p>
            <a:pPr algn="l">
              <a:spcAft>
                <a:spcPts val="300"/>
              </a:spcAft>
            </a:pPr>
            <a:r>
              <a:rPr sz="1200" b="0">
                <a:solidFill>
                  <a:srgbClr val="5B6372"/>
                </a:solidFill>
                <a:latin typeface="Arial"/>
              </a:rPr>
              <a:t>Python · JSON · YANG · DNA Center and vManage APIs · REST responses · EEM · orchestration tools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350-401 · BLUEPRINT WEIGHTING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Exam Domain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Infrastructure carries 30% of the exam — nearly a third — and Security another 20%. Half the exam sits in these two domains, so half your revision time belongs there. Days 3 and 4 are built around that.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40 INSTRUCTIONAL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526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526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1–3</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4–5</a:t>
            </a:r>
          </a:p>
        </p:txBody>
      </p:sp>
      <p:sp>
        <p:nvSpPr>
          <p:cNvPr id="11" name="TextBox 10"/>
          <p:cNvSpPr txBox="1"/>
          <p:nvPr/>
        </p:nvSpPr>
        <p:spPr>
          <a:xfrm>
            <a:off x="1005840" y="2432304"/>
            <a:ext cx="4754880" cy="3749039"/>
          </a:xfrm>
          <a:prstGeom prst="rect">
            <a:avLst/>
          </a:prstGeom>
          <a:noFill/>
        </p:spPr>
        <p:txBody>
          <a:bodyPr wrap="square">
            <a:spAutoFit/>
          </a:bodyPr>
          <a:lstStyle/>
          <a:p>
            <a:pPr>
              <a:spcAft>
                <a:spcPts val="700"/>
              </a:spcAft>
            </a:pPr>
            <a:r>
              <a:rPr sz="1400" b="0">
                <a:solidFill>
                  <a:srgbClr val="161B26"/>
                </a:solidFill>
                <a:latin typeface="Arial"/>
              </a:rPr>
              <a:t>•  Day 1 — Enterprise Architecture — design, switching paths, campus LAN and high availability</a:t>
            </a:r>
          </a:p>
          <a:p>
            <a:pPr>
              <a:spcAft>
                <a:spcPts val="700"/>
              </a:spcAft>
            </a:pPr>
            <a:r>
              <a:rPr sz="1200" b="0">
                <a:solidFill>
                  <a:srgbClr val="5B6372"/>
                </a:solidFill>
                <a:latin typeface="Arial"/>
              </a:rPr>
              <a:t>–  Digital Attendance (AM) · Introductions · Learning Outcomes</a:t>
            </a:r>
          </a:p>
          <a:p>
            <a:pPr>
              <a:spcAft>
                <a:spcPts val="700"/>
              </a:spcAft>
            </a:pPr>
            <a:r>
              <a:rPr sz="1200" b="0">
                <a:solidFill>
                  <a:srgbClr val="5B6372"/>
                </a:solidFill>
                <a:latin typeface="Arial"/>
              </a:rPr>
              <a:t>–  Topic 1 Enterprise Architecture (Labs 1–5)</a:t>
            </a:r>
          </a:p>
          <a:p>
            <a:pPr>
              <a:spcAft>
                <a:spcPts val="700"/>
              </a:spcAft>
            </a:pPr>
            <a:r>
              <a:rPr sz="1400" b="0">
                <a:solidFill>
                  <a:srgbClr val="161B26"/>
                </a:solidFill>
                <a:latin typeface="Arial"/>
              </a:rPr>
              <a:t>•  Day 2 — Virtualization Technologies — hypervisors, VRF, GRE/IPsec, LISP and VXLAN</a:t>
            </a:r>
          </a:p>
          <a:p>
            <a:pPr>
              <a:spcAft>
                <a:spcPts val="700"/>
              </a:spcAft>
            </a:pPr>
            <a:r>
              <a:rPr sz="1200" b="0">
                <a:solidFill>
                  <a:srgbClr val="5B6372"/>
                </a:solidFill>
                <a:latin typeface="Arial"/>
              </a:rPr>
              <a:t>–  Topic 2 Virtualization Technologies (Labs 6–9)</a:t>
            </a:r>
          </a:p>
          <a:p>
            <a:pPr>
              <a:spcAft>
                <a:spcPts val="700"/>
              </a:spcAft>
            </a:pPr>
            <a:r>
              <a:rPr sz="1400" b="0">
                <a:solidFill>
                  <a:srgbClr val="161B26"/>
                </a:solidFill>
                <a:latin typeface="Arial"/>
              </a:rPr>
              <a:t>•  Day 3 — Network Infrastructure — Layer 2, EIGRP/OSPF/BGP and IP services</a:t>
            </a:r>
          </a:p>
          <a:p>
            <a:pPr>
              <a:spcAft>
                <a:spcPts val="700"/>
              </a:spcAft>
            </a:pPr>
            <a:r>
              <a:rPr sz="1200" b="0">
                <a:solidFill>
                  <a:srgbClr val="5B6372"/>
                </a:solidFill>
                <a:latin typeface="Arial"/>
              </a:rPr>
              <a:t>–  Topic 3 Network Infrastructure — Layer 2 and Layer 3 (Labs 10–18)</a:t>
            </a:r>
          </a:p>
        </p:txBody>
      </p:sp>
      <p:sp>
        <p:nvSpPr>
          <p:cNvPr id="12" name="TextBox 11"/>
          <p:cNvSpPr txBox="1"/>
          <p:nvPr/>
        </p:nvSpPr>
        <p:spPr>
          <a:xfrm>
            <a:off x="6583680" y="2432304"/>
            <a:ext cx="4617720" cy="3749039"/>
          </a:xfrm>
          <a:prstGeom prst="rect">
            <a:avLst/>
          </a:prstGeom>
          <a:noFill/>
        </p:spPr>
        <p:txBody>
          <a:bodyPr wrap="square">
            <a:spAutoFit/>
          </a:bodyPr>
          <a:lstStyle/>
          <a:p>
            <a:pPr>
              <a:spcAft>
                <a:spcPts val="700"/>
              </a:spcAft>
            </a:pPr>
            <a:r>
              <a:rPr sz="1400" b="0">
                <a:solidFill>
                  <a:srgbClr val="161B26"/>
                </a:solidFill>
                <a:latin typeface="Arial"/>
              </a:rPr>
              <a:t>•  Day 4 — Network Infrastructure (wireless), Network Assurance and Network Security</a:t>
            </a:r>
          </a:p>
          <a:p>
            <a:pPr>
              <a:spcAft>
                <a:spcPts val="700"/>
              </a:spcAft>
            </a:pPr>
            <a:r>
              <a:rPr sz="1200" b="0">
                <a:solidFill>
                  <a:srgbClr val="5B6372"/>
                </a:solidFill>
                <a:latin typeface="Arial"/>
              </a:rPr>
              <a:t>–  Topic 3 Network Infrastructure — wireless and IP services (Labs 19–21)</a:t>
            </a:r>
          </a:p>
          <a:p>
            <a:pPr>
              <a:spcAft>
                <a:spcPts val="700"/>
              </a:spcAft>
            </a:pPr>
            <a:r>
              <a:rPr sz="1200" b="0">
                <a:solidFill>
                  <a:srgbClr val="5B6372"/>
                </a:solidFill>
                <a:latin typeface="Arial"/>
              </a:rPr>
              <a:t>–  Topic 4 Network Assurance (Labs 22–25)</a:t>
            </a:r>
          </a:p>
          <a:p>
            <a:pPr>
              <a:spcAft>
                <a:spcPts val="700"/>
              </a:spcAft>
            </a:pPr>
            <a:r>
              <a:rPr sz="1200" b="0">
                <a:solidFill>
                  <a:srgbClr val="5B6372"/>
                </a:solidFill>
                <a:latin typeface="Arial"/>
              </a:rPr>
              <a:t>–  Topic 5 Network Security (Labs 26–30)</a:t>
            </a:r>
          </a:p>
          <a:p>
            <a:pPr>
              <a:spcAft>
                <a:spcPts val="700"/>
              </a:spcAft>
            </a:pPr>
            <a:r>
              <a:rPr sz="1400" b="0">
                <a:solidFill>
                  <a:srgbClr val="161B26"/>
                </a:solidFill>
                <a:latin typeface="Arial"/>
              </a:rPr>
              <a:t>•  Day 5 — Network Automation, revision and final assessment</a:t>
            </a:r>
          </a:p>
          <a:p>
            <a:pPr>
              <a:spcAft>
                <a:spcPts val="700"/>
              </a:spcAft>
            </a:pPr>
            <a:r>
              <a:rPr sz="1200" b="0">
                <a:solidFill>
                  <a:srgbClr val="5B6372"/>
                </a:solidFill>
                <a:latin typeface="Arial"/>
              </a:rPr>
              <a:t>–  Topic 6 Network Automation (Labs 31–35)</a:t>
            </a:r>
          </a:p>
          <a:p>
            <a:pPr>
              <a:spcAft>
                <a:spcPts val="700"/>
              </a:spcAft>
            </a:pPr>
            <a:r>
              <a:rPr sz="1200" b="0">
                <a:solidFill>
                  <a:srgbClr val="5B6372"/>
                </a:solidFill>
                <a:latin typeface="Arial"/>
              </a:rPr>
              <a:t>–  Revision · TRAQOM Survey · Digital Attendance (Assessment)</a:t>
            </a:r>
          </a:p>
          <a:p>
            <a:pPr>
              <a:spcAft>
                <a:spcPts val="700"/>
              </a:spcAft>
            </a:pPr>
            <a:r>
              <a:rPr sz="1200" b="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SET UP BEFORE WE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Cisco Packet Tracer 8.2+</a:t>
            </a:r>
          </a:p>
          <a:p>
            <a:pPr algn="l">
              <a:spcAft>
                <a:spcPts val="300"/>
              </a:spcAft>
            </a:pPr>
            <a:r>
              <a:rPr sz="1200" b="0">
                <a:solidFill>
                  <a:srgbClr val="5B6372"/>
                </a:solidFill>
                <a:latin typeface="Arial"/>
              </a:rPr>
              <a:t>The primary lab environment. Every .pkt/.pka topology in labs/ opens in Packet Tracer — free from the Cisco Networking Academy.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Cisco IOS / IOS XE CLI</a:t>
            </a:r>
          </a:p>
          <a:p>
            <a:pPr algn="l">
              <a:spcAft>
                <a:spcPts val="300"/>
              </a:spcAft>
            </a:pPr>
            <a:r>
              <a:rPr sz="1200" b="0">
                <a:solidFill>
                  <a:srgbClr val="5B6372"/>
                </a:solidFill>
                <a:latin typeface="Arial"/>
              </a:rPr>
              <a:t>All configuration is done at the IOS CLI, so the commands transfer directly to real 9200/9300 switches and ISR/CSR routers.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Wireless LAN Controller (WLC)</a:t>
            </a:r>
          </a:p>
          <a:p>
            <a:pPr algn="l">
              <a:spcAft>
                <a:spcPts val="300"/>
              </a:spcAft>
            </a:pPr>
            <a:r>
              <a:rPr sz="1200" b="0">
                <a:solidFill>
                  <a:srgbClr val="5B6372"/>
                </a:solidFill>
                <a:latin typeface="Arial"/>
              </a:rPr>
              <a:t>The Packet Tracer WLC GUI is used for the WLAN, WPA2-Enterprise and wireless troubleshooting labs.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3.10+</a:t>
            </a:r>
          </a:p>
          <a:p>
            <a:pPr algn="l">
              <a:spcAft>
                <a:spcPts val="300"/>
              </a:spcAft>
            </a:pPr>
            <a:r>
              <a:rPr sz="1200" b="0">
                <a:solidFill>
                  <a:srgbClr val="5B6372"/>
                </a:solidFill>
                <a:latin typeface="Arial"/>
              </a:rPr>
              <a:t>Used for the automation labs — interpreting scripts, parsing JSON and calling REST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Postman or curl</a:t>
            </a:r>
          </a:p>
          <a:p>
            <a:pPr algn="l">
              <a:spcAft>
                <a:spcPts val="300"/>
              </a:spcAft>
            </a:pPr>
            <a:r>
              <a:rPr sz="1200" b="0">
                <a:solidFill>
                  <a:srgbClr val="5B6372"/>
                </a:solidFill>
                <a:latin typeface="Arial"/>
              </a:rPr>
              <a:t>Used to exercise the Cisco DNA Center and RESTCONF APIs and to read response codes.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text editor</a:t>
            </a:r>
          </a:p>
          <a:p>
            <a:pPr algn="l">
              <a:spcAft>
                <a:spcPts val="300"/>
              </a:spcAft>
            </a:pPr>
            <a:r>
              <a:rPr sz="1200" b="0">
                <a:solidFill>
                  <a:srgbClr val="5B6372"/>
                </a:solidFill>
                <a:latin typeface="Arial"/>
              </a:rPr>
              <a:t>VS Code or any editor for writing Python scripts, JSON payloads and saved configurations.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knowledge taught in the slides.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Cisco configuration and verification tasks · 1 hour · open book. Tests the ability you built in the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Sign the Assessment Summary Record</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PRACTICE EXAM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Cisco CCNP ENCOR 350-401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200 original questions</a:t>
            </a:r>
          </a:p>
          <a:p>
            <a:pPr algn="l">
              <a:spcAft>
                <a:spcPts val="300"/>
              </a:spcAft>
            </a:pPr>
            <a:r>
              <a:rPr sz="1200" b="0">
                <a:solidFill>
                  <a:srgbClr val="5B6372"/>
                </a:solidFill>
                <a:latin typeface="Arial"/>
              </a:rPr>
              <a:t>Two full practice exams of 100 questions each, written for this blueprint — not redistributed exam content.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120 minutes each</a:t>
            </a:r>
          </a:p>
          <a:p>
            <a:pPr algn="l">
              <a:spcAft>
                <a:spcPts val="300"/>
              </a:spcAft>
            </a:pPr>
            <a:r>
              <a:rPr sz="1200" b="0">
                <a:solidFill>
                  <a:srgbClr val="5B6372"/>
                </a:solidFill>
                <a:latin typeface="Arial"/>
              </a:rPr>
              <a:t>The same duration as the real 350-401 exam, so you practise the pacing as well as the content.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 six domains</a:t>
            </a:r>
          </a:p>
          <a:p>
            <a:pPr algn="l">
              <a:spcAft>
                <a:spcPts val="300"/>
              </a:spcAft>
            </a:pPr>
            <a:r>
              <a:rPr sz="1200" b="0">
                <a:solidFill>
                  <a:srgbClr val="5B6372"/>
                </a:solidFill>
                <a:latin typeface="Arial"/>
              </a:rPr>
              <a:t>Architecture 15% · Virtualization 10% · Infrastructure 30% · Assurance 10% · Security 20% · Automation 15%.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mode</a:t>
            </a:r>
          </a:p>
          <a:p>
            <a:pPr algn="l">
              <a:spcAft>
                <a:spcPts val="300"/>
              </a:spcAft>
            </a:pPr>
            <a:r>
              <a:rPr sz="1200" b="0">
                <a:solidFill>
                  <a:srgbClr val="5B6372"/>
                </a:solidFill>
                <a:latin typeface="Arial"/>
              </a:rPr>
              <a:t>Answers and full explanations revealed immediately after each question — use this while you learn.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 mode</a:t>
            </a:r>
          </a:p>
          <a:p>
            <a:pPr algn="l">
              <a:spcAft>
                <a:spcPts val="300"/>
              </a:spcAft>
            </a:pPr>
            <a:r>
              <a:rPr sz="1200" b="0">
                <a:solidFill>
                  <a:srgbClr val="5B6372"/>
                </a:solidFill>
                <a:latin typeface="Arial"/>
              </a:rPr>
              <a:t>Timed, answers hidden until you submit, progress saved automatically — use this in the final week.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Try it free</a:t>
            </a:r>
          </a:p>
          <a:p>
            <a:pPr algn="l">
              <a:spcAft>
                <a:spcPts val="300"/>
              </a:spcAft>
            </a:pPr>
            <a:r>
              <a:rPr sz="1200" b="0">
                <a:solidFill>
                  <a:srgbClr val="5B6372"/>
                </a:solidFill>
                <a:latin typeface="Arial"/>
              </a:rPr>
              <a:t>exams.tertiaryinfotech.com/practice-exams/cisco/cisco-ccnp-encor — a free sample exam needs no payment details.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exams.tertiaryinfotech.com/practice-exams/cisco/cisco-ccnp-encor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Practise until the pacing is automatic.</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Take the practice exam in Practice mode while you learn, then in Exam mode against the clock. 100 questions in 120 minutes leaves about 72 seconds per question — the pacing is what catches people out, not the content.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Enterprise Network Core, End to End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advClick="1">
    <p:push dir="l"/>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WHAT YOU ARE PREPARING FOR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ENCOR is one exam across six domains.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350-401 tests whether you can implement core enterprise network technologies — dual-stack architecture, virtualization, infrastructure, assurance, security and automation. This course walks all six, in blueprint order, with a lab for every objective.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STRUCTURE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ENCOR 350-401 Exam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120 minutes</a:t>
            </a:r>
          </a:p>
          <a:p>
            <a:pPr algn="l">
              <a:spcAft>
                <a:spcPts val="300"/>
              </a:spcAft>
            </a:pPr>
            <a:r>
              <a:rPr sz="1200" b="0">
                <a:solidFill>
                  <a:srgbClr val="5B6372"/>
                </a:solidFill>
                <a:latin typeface="Arial"/>
              </a:rPr>
              <a:t>The exam runs two hours and is the core exam for both CCNP Enterprise and CCIE Enterprise.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Six domains</a:t>
            </a:r>
          </a:p>
          <a:p>
            <a:pPr algn="l">
              <a:spcAft>
                <a:spcPts val="300"/>
              </a:spcAft>
            </a:pPr>
            <a:r>
              <a:rPr sz="1200" b="0">
                <a:solidFill>
                  <a:srgbClr val="5B6372"/>
                </a:solidFill>
                <a:latin typeface="Arial"/>
              </a:rPr>
              <a:t>Architecture, Virtualization, Infrastructure, Network Assurance, Security and Automation.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Dual stack throughout</a:t>
            </a:r>
          </a:p>
          <a:p>
            <a:pPr algn="l">
              <a:spcAft>
                <a:spcPts val="300"/>
              </a:spcAft>
            </a:pPr>
            <a:r>
              <a:rPr sz="1200" b="0">
                <a:solidFill>
                  <a:srgbClr val="5B6372"/>
                </a:solidFill>
                <a:latin typeface="Arial"/>
              </a:rPr>
              <a:t>IPv4 and IPv6 are both examinable — OSPFv3 and IPv6 addressing appear alongside their v4 equivalents.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Configure, verify, describe</a:t>
            </a:r>
          </a:p>
          <a:p>
            <a:pPr algn="l">
              <a:spcAft>
                <a:spcPts val="300"/>
              </a:spcAft>
            </a:pPr>
            <a:r>
              <a:rPr sz="1200" b="0">
                <a:solidFill>
                  <a:srgbClr val="5B6372"/>
                </a:solidFill>
                <a:latin typeface="Arial"/>
              </a:rPr>
              <a:t>Read the verb in each objective: 'configure and verify' means hands-on, 'describe' means conceptual.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plus concentration</a:t>
            </a:r>
          </a:p>
          <a:p>
            <a:pPr algn="l">
              <a:spcAft>
                <a:spcPts val="300"/>
              </a:spcAft>
            </a:pPr>
            <a:r>
              <a:rPr sz="1200" b="0">
                <a:solidFill>
                  <a:srgbClr val="5B6372"/>
                </a:solidFill>
                <a:latin typeface="Arial"/>
              </a:rPr>
              <a:t>Passing ENCOR alone earns the Cisco Certified Specialist – Enterprise Core certification.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Then a concentration</a:t>
            </a:r>
          </a:p>
          <a:p>
            <a:pPr algn="l">
              <a:spcAft>
                <a:spcPts val="300"/>
              </a:spcAft>
            </a:pPr>
            <a:r>
              <a:rPr sz="1200" b="0">
                <a:solidFill>
                  <a:srgbClr val="5B6372"/>
                </a:solidFill>
                <a:latin typeface="Arial"/>
              </a:rPr>
              <a:t>CCNP Enterprise needs ENCOR plus one concentration exam such as ENARSI.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TO STUDY THE BLUEPRINT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the Verb — What Each Objective Actually Asks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Verb in the blueprint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exam expects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 objective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this course covers it</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Configure and verify</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Hands-on configuration and the show command that proves it</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Configure and verify eBGP</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full lab with the commands and the verification</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Troubleshoot</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Find and fix a broken configuration</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Troubleshoot static and dynamic EtherChannels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lab that starts broken, not blank</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Describe</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Explain the concept and its components</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Describe REST API security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concept walkthrough and a review worksheet</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Interpret</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Read a given configuration or script and predict the result</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Interpret basic Python components</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Predict-then-run exercises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Compare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State the differences and when to choose each</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Compare agent vs agentless tools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comparison matrix plus a justified recommendation</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verb tells you how deep to go. 'Describe' will never ask you for a command; 'configure and verify' always will.</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 THIS COURSE FOLLOWS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Packet Crosses the Enterprise 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Access</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Host attaches, VLAN assigned</a:t>
            </a:r>
          </a:p>
        </p:txBody>
      </p:sp>
      <p:cxnSp>
        <p:nvCxnSpPr>
          <p:cNvPr id="13" name="Connector 12"/>
          <p:cNvCxnSpPr/>
          <p:nvPr/>
        </p:nvCxnSpPr>
        <p:spPr>
          <a:xfrm>
            <a:off x="2651760"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Distribution</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L2 becomes L3, policy applied</a:t>
            </a:r>
          </a:p>
        </p:txBody>
      </p:sp>
      <p:cxnSp>
        <p:nvCxnSpPr>
          <p:cNvPr id="20" name="Connector 19"/>
          <p:cNvCxnSpPr/>
          <p:nvPr/>
        </p:nvCxnSpPr>
        <p:spPr>
          <a:xfrm>
            <a:off x="4855464"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Core</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High-speed transit only</a:t>
            </a:r>
          </a:p>
        </p:txBody>
      </p:sp>
      <p:cxnSp>
        <p:nvCxnSpPr>
          <p:cNvPr id="27" name="Connector 26"/>
          <p:cNvCxnSpPr/>
          <p:nvPr/>
        </p:nvCxnSpPr>
        <p:spPr>
          <a:xfrm>
            <a:off x="7059168"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WAN edge</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NAT, IPsec, SD-WAN</a:t>
            </a:r>
          </a:p>
        </p:txBody>
      </p:sp>
      <p:cxnSp>
        <p:nvCxnSpPr>
          <p:cNvPr id="34" name="Connector 33"/>
          <p:cNvCxnSpPr/>
          <p:nvPr/>
        </p:nvCxnSpPr>
        <p:spPr>
          <a:xfrm>
            <a:off x="9262872"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Destination</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Remote site or cloud</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topic in this course is one stage of this journey. Keep this picture in mind — the exam questions are almost always about one hop on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 MODEL YOU WILL USE ALL WEEK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Planes — The Idea Behind Every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plane</a:t>
            </a:r>
          </a:p>
          <a:p>
            <a:pPr algn="l">
              <a:spcAft>
                <a:spcPts val="300"/>
              </a:spcAft>
            </a:pPr>
            <a:r>
              <a:rPr sz="1200" b="0">
                <a:solidFill>
                  <a:srgbClr val="5B6372"/>
                </a:solidFill>
                <a:latin typeface="Arial"/>
              </a:rPr>
              <a:t>Forwards packets. CEF, the FIB and the adjacency table live here, and it runs in hardware at line rate.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 plane</a:t>
            </a:r>
          </a:p>
          <a:p>
            <a:pPr algn="l">
              <a:spcAft>
                <a:spcPts val="300"/>
              </a:spcAft>
            </a:pPr>
            <a:r>
              <a:rPr sz="1200" b="0">
                <a:solidFill>
                  <a:srgbClr val="5B6372"/>
                </a:solidFill>
                <a:latin typeface="Arial"/>
              </a:rPr>
              <a:t>Decides where packets should go. Routing protocols, STP and LISP live here, and it runs in software on the CPU.</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Management plane</a:t>
            </a:r>
          </a:p>
          <a:p>
            <a:pPr algn="l">
              <a:spcAft>
                <a:spcPts val="300"/>
              </a:spcAft>
            </a:pPr>
            <a:r>
              <a:rPr sz="1200" b="0">
                <a:solidFill>
                  <a:srgbClr val="5B6372"/>
                </a:solidFill>
                <a:latin typeface="Arial"/>
              </a:rPr>
              <a:t>How you configure and monitor the device. SSH, SNMP, NETCONF and RESTCONF live here.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CoPP protects the control plane from the data plane, SD-WAN separates them onto different devices, and 'the control plane is down' means something very different from 'the data plane is down'.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CONCEPTS · THE MODEL BEHIND EVERY TOPIC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Planes of a Network Device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ree-planes.png"/>
          <p:cNvPicPr>
            <a:picLocks noChangeAspect="1"/>
          </p:cNvPicPr>
          <p:nvPr/>
        </p:nvPicPr>
        <p:blipFill>
          <a:blip r:embed="rId2"/>
          <a:stretch>
            <a:fillRect/>
          </a:stretch>
        </p:blipFill>
        <p:spPr>
          <a:xfrm>
            <a:off x="2492970" y="1783080"/>
            <a:ext cx="72057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Every topic this week sits in one of these three planes. Know which plane a symptom belongs to and you have already halved the troubleshooting.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advClick="1">
    <p:push dir="l"/>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1.6 · HARDWARE AND SOFTWARE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Switching Mechanisms — Process, Fast and CEF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Mechanism</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decides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Speed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Where the decision is cached</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Process switching</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Every packet examined by the CPU</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Slowest</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Nowhere — recomputed each packet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Fast switching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First packet by CPU, rest from cache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Faster</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Route cache, built on demand</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CEF</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FIB built ahead of any traffic</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Fastest</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FIB + adjacency table, in hardware</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CEF is the default and the answer to almost every 'which is fastest' question — because it is topology-based, not traffic-driven.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1.6 · KNOW WHICH TABLE ANSWERS WHICH QUESTION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Forwarding Tables — CAM, TCAM, RIB, FIB and Adjacency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Table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holds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Match type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Populated by</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CAM</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MAC address to port, per VLAN</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Exact match</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Learning source MACs from frames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TCAM</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ACL, QoS and policy entries</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Ternary (masked)</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Compiled ACLs and QoS policies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RIB</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Best routes from all sources</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Longest prefix</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Routing protocols and static routes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FIB</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CEF's forwarding copy of the RIB</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Longest prefix</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Built from the RIB by CEF</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Adjacency</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Layer 2 rewrite for each next hop</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Next-hop lookup</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ARP and the neighbour tables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An exam question naming a MAC address wants CAM; one naming an ACL wants TCAM; one naming a next hop wants the FIB and adjacency pair.</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1.6 · HARDWARE AND SOFTWARE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Forwarding Tables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warding-tables.png"/>
          <p:cNvPicPr>
            <a:picLocks noChangeAspect="1"/>
          </p:cNvPicPr>
          <p:nvPr/>
        </p:nvPicPr>
        <p:blipFill>
          <a:blip r:embed="rId2"/>
          <a:stretch>
            <a:fillRect/>
          </a:stretch>
        </p:blipFill>
        <p:spPr>
          <a:xfrm>
            <a:off x="2492970" y="1783080"/>
            <a:ext cx="72057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CEF uses the FIB and the adjacency table together — the FIB decides where, the adjacency table builds the new frame header.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ENCOR 1.1 · THE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 You Need a Dedicated Core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More than about
three distribution
blocks?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build a 3-tier design</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dedicated core. Each distribution block gets two uplinks to the core instead of meshing with every other block, so cabling and complexity grow linearly rather than quadratically.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collapse into 2-tier</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Merge core and distribution. Fewer devices, lower cost and less to manage — the right answer for a single building or a small campus.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The trigger is the number of distribution blocks, not the number of users. Four blocks fully meshed need six links; with a core they need four uplinks.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1.1.a · ENTERPRISE DESIGN PRINCIPLES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Two-Tier vs Three-Tier Campus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mpus-tiers.png"/>
          <p:cNvPicPr>
            <a:picLocks noChangeAspect="1"/>
          </p:cNvPicPr>
          <p:nvPr/>
        </p:nvPicPr>
        <p:blipFill>
          <a:blip r:embed="rId2"/>
          <a:stretch>
            <a:fillRect/>
          </a:stretch>
        </p:blipFill>
        <p:spPr>
          <a:xfrm>
            <a:off x="2492970" y="1783080"/>
            <a:ext cx="72057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The design decision is driven by the number of distribution blocks, not the headcount. Beyond roughly three blocks, add the core.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1.1 · THE SCALING ARGUMENT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Why a Core Layer Scales — Links Needed as Blocks Grow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Without a core, inter-block links grow as n(n-1)/2 — six blocks need fifteen links. With a core they grow linearly: one uplink per block. This is the whole quantitative case for the third tier.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1.1.b · HIGH AVAILABILITY TECHNIQUES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High Availability — The Three Layers of Redundancy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Hardware redundancy</a:t>
            </a:r>
          </a:p>
          <a:p>
            <a:pPr algn="l">
              <a:spcAft>
                <a:spcPts val="300"/>
              </a:spcAft>
            </a:pPr>
            <a:r>
              <a:rPr sz="1200" b="0">
                <a:solidFill>
                  <a:srgbClr val="5B6372"/>
                </a:solidFill>
                <a:latin typeface="Arial"/>
              </a:rPr>
              <a:t>Dual supervisors, dual power supplies and redundant line cards so a component failure is survivable.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redundancy</a:t>
            </a:r>
          </a:p>
          <a:p>
            <a:pPr algn="l">
              <a:spcAft>
                <a:spcPts val="300"/>
              </a:spcAft>
            </a:pPr>
            <a:r>
              <a:rPr sz="1200" b="0">
                <a:solidFill>
                  <a:srgbClr val="5B6372"/>
                </a:solidFill>
                <a:latin typeface="Arial"/>
              </a:rPr>
              <a:t>EtherChannel bundles and redundant uplinks so a cable or port failure does not isolate a block.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FHRP</a:t>
            </a:r>
          </a:p>
          <a:p>
            <a:pPr algn="l">
              <a:spcAft>
                <a:spcPts val="300"/>
              </a:spcAft>
            </a:pPr>
            <a:r>
              <a:rPr sz="1200" b="0">
                <a:solidFill>
                  <a:srgbClr val="5B6372"/>
                </a:solidFill>
                <a:latin typeface="Arial"/>
              </a:rPr>
              <a:t>HSRP, VRRP or GLBP give hosts one virtual default gateway that survives the failure of the router behind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SSO / NSF</a:t>
            </a:r>
          </a:p>
          <a:p>
            <a:pPr algn="l">
              <a:spcAft>
                <a:spcPts val="300"/>
              </a:spcAft>
            </a:pPr>
            <a:r>
              <a:rPr sz="1200" b="0">
                <a:solidFill>
                  <a:srgbClr val="5B6372"/>
                </a:solidFill>
                <a:latin typeface="Arial"/>
              </a:rPr>
              <a:t>Stateful switchover keeps the standby supervisor in sync; non-stop forwarding keeps forwarding while routing re-converges.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Graceful restart</a:t>
            </a:r>
          </a:p>
          <a:p>
            <a:pPr algn="l">
              <a:spcAft>
                <a:spcPts val="300"/>
              </a:spcAft>
            </a:pPr>
            <a:r>
              <a:rPr sz="1200" b="0">
                <a:solidFill>
                  <a:srgbClr val="5B6372"/>
                </a:solidFill>
                <a:latin typeface="Arial"/>
              </a:rPr>
              <a:t>Neighbours hold the adjacency during a supervisor switchover instead of tearing routing down.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all four</a:t>
            </a:r>
          </a:p>
          <a:p>
            <a:pPr algn="l">
              <a:spcAft>
                <a:spcPts val="300"/>
              </a:spcAft>
            </a:pPr>
            <a:r>
              <a:rPr sz="1200" b="0">
                <a:solidFill>
                  <a:srgbClr val="5B6372"/>
                </a:solidFill>
                <a:latin typeface="Arial"/>
              </a:rPr>
              <a:t>Each covers a different failure. Redundant hardware without FHRP still leaves hosts pointing at a dead gateway.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ENCOR 3.4.c · FHRP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First Hop Redundancy Protocols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HSRP</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VRRP</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GLBP</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Standard</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Cisco proprietary</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IEEE / RFC 5798</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Cisco proprietary</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Roles</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Active / Standby</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Master / Backup</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AVG / AVF</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Default priority</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100</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100</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100</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Preemption</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Disabled by default</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Enabled by default</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Enabled by default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Load balancing</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 — one active router</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 — one master</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 across all forwarders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The preemption default is the classic exam trap: configure HSRP priority without 'standby preempt' and the higher-priority router will never take over.</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ENCOR 1.5 · QoS COMPONENTS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QoS — Mark Once, at the Trust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Identify the traffic — by ACL, by protocol, or by the marking a trusted device already applied.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Marking</a:t>
            </a:r>
          </a:p>
          <a:p>
            <a:pPr algn="l">
              <a:spcAft>
                <a:spcPts val="300"/>
              </a:spcAft>
            </a:pPr>
            <a:r>
              <a:rPr sz="1200" b="0">
                <a:solidFill>
                  <a:srgbClr val="5B6372"/>
                </a:solidFill>
                <a:latin typeface="Arial"/>
              </a:rPr>
              <a:t>Write the class into the packet: DSCP in the IP header, CoS in the 802.1Q tag. Voice is EF (46).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Queuing and scheduling</a:t>
            </a:r>
          </a:p>
          <a:p>
            <a:pPr algn="l">
              <a:spcAft>
                <a:spcPts val="300"/>
              </a:spcAft>
            </a:pPr>
            <a:r>
              <a:rPr sz="1200" b="0">
                <a:solidFill>
                  <a:srgbClr val="5B6372"/>
                </a:solidFill>
                <a:latin typeface="Arial"/>
              </a:rPr>
              <a:t>Decide who transmits next. LLQ gives voice a strict-priority queue; CBWFQ shares the rest by weight.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Congestion avoidance</a:t>
            </a:r>
          </a:p>
          <a:p>
            <a:pPr algn="l">
              <a:spcAft>
                <a:spcPts val="300"/>
              </a:spcAft>
            </a:pPr>
            <a:r>
              <a:rPr sz="1200" b="0">
                <a:solidFill>
                  <a:srgbClr val="5B6372"/>
                </a:solidFill>
                <a:latin typeface="Arial"/>
              </a:rPr>
              <a:t>WRED drops selectively before the queue is full, so TCP backs off gradually instead of all at once.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Policing</a:t>
            </a:r>
          </a:p>
          <a:p>
            <a:pPr algn="l">
              <a:spcAft>
                <a:spcPts val="300"/>
              </a:spcAft>
            </a:pPr>
            <a:r>
              <a:rPr sz="1200" b="0">
                <a:solidFill>
                  <a:srgbClr val="5B6372"/>
                </a:solidFill>
                <a:latin typeface="Arial"/>
              </a:rPr>
              <a:t>Enforces a rate by dropping or remarking excess — bursty, no delay added.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Shaping</a:t>
            </a:r>
          </a:p>
          <a:p>
            <a:pPr algn="l">
              <a:spcAft>
                <a:spcPts val="300"/>
              </a:spcAft>
            </a:pPr>
            <a:r>
              <a:rPr sz="1200" b="0">
                <a:solidFill>
                  <a:srgbClr val="5B6372"/>
                </a:solidFill>
                <a:latin typeface="Arial"/>
              </a:rPr>
              <a:t>Enforces a rate by buffering excess — smooth, but adds delay. Shape towards the provider, police from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ENCOR 1.5 · WORKED EXAMPLE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QoS Policy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Every QoS configuration you will meet has this same three-part shape — learn to read it once.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class-map match-all VOICE</a:t>
            </a:r>
          </a:p>
          <a:p>
            <a:pPr>
              <a:spcAft>
                <a:spcPts val="200"/>
              </a:spcAft>
            </a:pPr>
            <a:r>
              <a:rPr sz="1100">
                <a:solidFill>
                  <a:srgbClr val="9CDCFE"/>
                </a:solidFill>
                <a:latin typeface="Consolas"/>
              </a:rPr>
              <a:t>  match ip dscp ef</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class-map match-all VIDEO</a:t>
            </a:r>
          </a:p>
          <a:p>
            <a:pPr>
              <a:spcAft>
                <a:spcPts val="200"/>
              </a:spcAft>
            </a:pPr>
            <a:r>
              <a:rPr sz="1100">
                <a:solidFill>
                  <a:srgbClr val="9CDCFE"/>
                </a:solidFill>
                <a:latin typeface="Consolas"/>
              </a:rPr>
              <a:t>  match ip dscp af41</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policy-map WAN-EDGE</a:t>
            </a:r>
          </a:p>
          <a:p>
            <a:pPr>
              <a:spcAft>
                <a:spcPts val="200"/>
              </a:spcAft>
            </a:pPr>
            <a:r>
              <a:rPr sz="1100">
                <a:solidFill>
                  <a:srgbClr val="C586C0"/>
                </a:solidFill>
                <a:latin typeface="Consolas"/>
              </a:rPr>
              <a:t>  class VOICE</a:t>
            </a:r>
          </a:p>
          <a:p>
            <a:pPr>
              <a:spcAft>
                <a:spcPts val="200"/>
              </a:spcAft>
            </a:pPr>
            <a:r>
              <a:rPr sz="1100">
                <a:solidFill>
                  <a:srgbClr val="9CDCFE"/>
                </a:solidFill>
                <a:latin typeface="Consolas"/>
              </a:rPr>
              <a:t>    priority percent 10</a:t>
            </a:r>
          </a:p>
          <a:p>
            <a:pPr>
              <a:spcAft>
                <a:spcPts val="200"/>
              </a:spcAft>
            </a:pPr>
            <a:r>
              <a:rPr sz="1100">
                <a:solidFill>
                  <a:srgbClr val="C586C0"/>
                </a:solidFill>
                <a:latin typeface="Consolas"/>
              </a:rPr>
              <a:t>  class VIDEO</a:t>
            </a:r>
          </a:p>
          <a:p>
            <a:pPr>
              <a:spcAft>
                <a:spcPts val="200"/>
              </a:spcAft>
            </a:pPr>
            <a:r>
              <a:rPr sz="1100">
                <a:solidFill>
                  <a:srgbClr val="9CDCFE"/>
                </a:solidFill>
                <a:latin typeface="Consolas"/>
              </a:rPr>
              <a:t>    bandwidth percent 30</a:t>
            </a:r>
          </a:p>
          <a:p>
            <a:pPr>
              <a:spcAft>
                <a:spcPts val="200"/>
              </a:spcAft>
            </a:pPr>
            <a:r>
              <a:rPr sz="1100">
                <a:solidFill>
                  <a:srgbClr val="C586C0"/>
                </a:solidFill>
                <a:latin typeface="Consolas"/>
              </a:rPr>
              <a:t>  class class-default</a:t>
            </a:r>
          </a:p>
          <a:p>
            <a:pPr>
              <a:spcAft>
                <a:spcPts val="200"/>
              </a:spcAft>
            </a:pPr>
            <a:r>
              <a:rPr sz="1100">
                <a:solidFill>
                  <a:srgbClr val="9CDCFE"/>
                </a:solidFill>
                <a:latin typeface="Consolas"/>
              </a:rPr>
              <a:t>    fair-queue</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interface Serial0/0/0</a:t>
            </a:r>
          </a:p>
          <a:p>
            <a:pPr>
              <a:spcAft>
                <a:spcPts val="200"/>
              </a:spcAft>
            </a:pPr>
            <a:r>
              <a:rPr sz="1100">
                <a:solidFill>
                  <a:srgbClr val="9CDCFE"/>
                </a:solidFill>
                <a:latin typeface="Consolas"/>
              </a:rPr>
              <a:t>  service-policy output WAN-EDGE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class-map</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Classifies — it says WHICH packets belong to this class, and nothing else.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policy-map</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Acts — it says WHAT happens to each class: priority, bandwidth or queuing.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priority percent 10</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strict-priority (low-latency) queue. Voice goes here; it is policed to 10% so it cannot starve everything else.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service-policy output</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Applies the policy to an interface in one direction. Without this line the policy does nothing at all.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1.2 · WIRELESS NETWORK DESIGN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Design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Centralized</a:t>
            </a:r>
          </a:p>
          <a:p>
            <a:pPr algn="l">
              <a:spcAft>
                <a:spcPts val="300"/>
              </a:spcAft>
            </a:pPr>
            <a:r>
              <a:rPr sz="1200" b="0">
                <a:solidFill>
                  <a:srgbClr val="5B6372"/>
                </a:solidFill>
                <a:latin typeface="Arial"/>
              </a:rPr>
              <a:t>All client traffic tunnels to a central WLC over CAPWAP. Simple policy, but the WLC is in every data path.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Distributed / FlexConnect</a:t>
            </a:r>
          </a:p>
          <a:p>
            <a:pPr algn="l">
              <a:spcAft>
                <a:spcPts val="300"/>
              </a:spcAft>
            </a:pPr>
            <a:r>
              <a:rPr sz="1200" b="0">
                <a:solidFill>
                  <a:srgbClr val="5B6372"/>
                </a:solidFill>
                <a:latin typeface="Arial"/>
              </a:rPr>
              <a:t>The AP switches client traffic locally at the branch and only sends control traffic to the WLC — right when the WAN is slow or expensive.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Controller-less</a:t>
            </a:r>
          </a:p>
          <a:p>
            <a:pPr algn="l">
              <a:spcAft>
                <a:spcPts val="300"/>
              </a:spcAft>
            </a:pPr>
            <a:r>
              <a:rPr sz="1200" b="0">
                <a:solidFill>
                  <a:srgbClr val="5B6372"/>
                </a:solidFill>
                <a:latin typeface="Arial"/>
              </a:rPr>
              <a:t>Mobility Express embeds the controller in an AP. Suits a small site with no room for a separate WLC.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Cloud-managed</a:t>
            </a:r>
          </a:p>
          <a:p>
            <a:pPr algn="l">
              <a:spcAft>
                <a:spcPts val="300"/>
              </a:spcAft>
            </a:pPr>
            <a:r>
              <a:rPr sz="1200" b="0">
                <a:solidFill>
                  <a:srgbClr val="5B6372"/>
                </a:solidFill>
                <a:latin typeface="Arial"/>
              </a:rPr>
              <a:t>Meraki-style: management in the cloud, data stays local. Lowest operational overhead.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Location services</a:t>
            </a:r>
          </a:p>
          <a:p>
            <a:pPr algn="l">
              <a:spcAft>
                <a:spcPts val="300"/>
              </a:spcAft>
            </a:pPr>
            <a:r>
              <a:rPr sz="1200" b="0">
                <a:solidFill>
                  <a:srgbClr val="5B6372"/>
                </a:solidFill>
                <a:latin typeface="Arial"/>
              </a:rPr>
              <a:t>RSSI trilateration, Angle of Arrival with Hyperlocation, and BLE beacons — accuracy depends on AP density and placement.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 density</a:t>
            </a:r>
          </a:p>
          <a:p>
            <a:pPr algn="l">
              <a:spcAft>
                <a:spcPts val="300"/>
              </a:spcAft>
            </a:pPr>
            <a:r>
              <a:rPr sz="1200" b="0">
                <a:solidFill>
                  <a:srgbClr val="5B6372"/>
                </a:solidFill>
                <a:latin typeface="Arial"/>
              </a:rPr>
              <a:t>High density is a capacity problem: smaller cells, lower transmit power, narrower channels and band steering to 5 GHz.</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3.3.c · AP DISCOVERY AND JOIN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AP Join Process — CAPWAP End to 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pwap-join.png"/>
          <p:cNvPicPr>
            <a:picLocks noChangeAspect="1"/>
          </p:cNvPicPr>
          <p:nvPr/>
        </p:nvPicPr>
        <p:blipFill>
          <a:blip r:embed="rId2"/>
          <a:stretch>
            <a:fillRect/>
          </a:stretch>
        </p:blipFill>
        <p:spPr>
          <a:xfrm>
            <a:off x="2492970" y="1783080"/>
            <a:ext cx="72057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UDP 5246 carries the DTLS-encrypted control tunnel; UDP 5247 carries client data. Both port numbers are directly examinable.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ENCOR 3.3.c · AP DISCOVERY AND JOIN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an AP Joins a Controller — CAPWAP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Get an address</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AP boots and takes DHCP</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Discover the WLC</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Broadcast, option 43, DNS or stored list</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Select one</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By priority, then lowest AP load</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Join over DTLS</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Control tunnel on UDP 5246</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Download and serve</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Image, config, then data on UDP 5247</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EXAM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Learn the discovery order and both port numbers — 5246 control, 5247 data. 'The AP will not join' questions are almost always option 43, DNS, or a DTLS certificate mismatch.</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ENCOR 1.3 · SD-WAN CONTROL AND DATA PLANES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Cisco SD-WAN — The Four Planes and What Breaks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dwan-planes.png"/>
          <p:cNvPicPr>
            <a:picLocks noChangeAspect="1"/>
          </p:cNvPicPr>
          <p:nvPr/>
        </p:nvPicPr>
        <p:blipFill>
          <a:blip r:embed="rId2"/>
          <a:stretch>
            <a:fillRect/>
          </a:stretch>
        </p:blipFill>
        <p:spPr>
          <a:xfrm>
            <a:off x="2788487" y="1783080"/>
            <a:ext cx="6614721"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Only vBond must be publicly reachable. A vSmart outage stops NEW route learning — it does not stop traffic already flowing.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ENCOR 1.3 · SD-WAN CONTROL AND DATA PLANES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Cisco SD-WAN — The Four Planes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vBond · Orchestration</a:t>
            </a:r>
          </a:p>
          <a:p>
            <a:pPr algn="l">
              <a:spcAft>
                <a:spcPts val="300"/>
              </a:spcAft>
            </a:pPr>
            <a:r>
              <a:rPr sz="1200" b="0">
                <a:solidFill>
                  <a:srgbClr val="5B6372"/>
                </a:solidFill>
                <a:latin typeface="Arial"/>
              </a:rPr>
              <a:t>Authenticates every device and introduces them to each other. The only element that must have a public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vSmart · Control</a:t>
            </a:r>
          </a:p>
          <a:p>
            <a:pPr algn="l">
              <a:spcAft>
                <a:spcPts val="300"/>
              </a:spcAft>
            </a:pPr>
            <a:r>
              <a:rPr sz="1200" b="0">
                <a:solidFill>
                  <a:srgbClr val="5B6372"/>
                </a:solidFill>
                <a:latin typeface="Arial"/>
              </a:rPr>
              <a:t>Distributes routes and policy over OMP. It never carries user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vManage · Management</a:t>
            </a:r>
          </a:p>
          <a:p>
            <a:pPr algn="l">
              <a:spcAft>
                <a:spcPts val="300"/>
              </a:spcAft>
            </a:pPr>
            <a:r>
              <a:rPr sz="1200" b="0">
                <a:solidFill>
                  <a:srgbClr val="5B6372"/>
                </a:solidFill>
                <a:latin typeface="Arial"/>
              </a:rPr>
              <a:t>The GUI, the API and the configuration templates. Where you actually operate the fabric.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vEdge / cEdge · Data</a:t>
            </a:r>
          </a:p>
          <a:p>
            <a:pPr algn="l">
              <a:spcAft>
                <a:spcPts val="300"/>
              </a:spcAft>
            </a:pPr>
            <a:r>
              <a:rPr sz="1200" b="0">
                <a:solidFill>
                  <a:srgbClr val="5B6372"/>
                </a:solidFill>
                <a:latin typeface="Arial"/>
              </a:rPr>
              <a:t>The routers at each site that build the IPsec fabric and forward the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If vSmart fails</a:t>
            </a:r>
          </a:p>
          <a:p>
            <a:pPr algn="l">
              <a:spcAft>
                <a:spcPts val="300"/>
              </a:spcAft>
            </a:pPr>
            <a:r>
              <a:rPr sz="1200" b="0">
                <a:solidFill>
                  <a:srgbClr val="5B6372"/>
                </a:solidFill>
                <a:latin typeface="Arial"/>
              </a:rPr>
              <a:t>Existing data plane tunnels keep forwarding — but no new routes or policy are learned.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If vManage fails</a:t>
            </a:r>
          </a:p>
          <a:p>
            <a:pPr algn="l">
              <a:spcAft>
                <a:spcPts val="300"/>
              </a:spcAft>
            </a:pPr>
            <a:r>
              <a:rPr sz="1200" b="0">
                <a:solidFill>
                  <a:srgbClr val="5B6372"/>
                </a:solidFill>
                <a:latin typeface="Arial"/>
              </a:rPr>
              <a:t>The fabric keeps running; you lose management and monitoring, not forwarding.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ENCOR 1.4 · SD-ACCESS CONTROL AND DATA PLANES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Cisco SD-Access — Underlay, Overlay and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Underlay</a:t>
            </a:r>
          </a:p>
          <a:p>
            <a:pPr algn="l">
              <a:spcAft>
                <a:spcPts val="300"/>
              </a:spcAft>
            </a:pPr>
            <a:r>
              <a:rPr sz="1200" b="0">
                <a:solidFill>
                  <a:srgbClr val="5B6372"/>
                </a:solidFill>
                <a:latin typeface="Arial"/>
              </a:rPr>
              <a:t>Any routed IP network that provides reachability between fabric nodes. It carries no client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Overlay data plane</a:t>
            </a:r>
          </a:p>
          <a:p>
            <a:pPr algn="l">
              <a:spcAft>
                <a:spcPts val="300"/>
              </a:spcAft>
            </a:pPr>
            <a:r>
              <a:rPr sz="1200" b="0">
                <a:solidFill>
                  <a:srgbClr val="5B6372"/>
                </a:solidFill>
                <a:latin typeface="Arial"/>
              </a:rPr>
              <a:t>VXLAN. The VNI replaces the VLAN as the segment identifier, lifting the ceiling from 4,094 to 16 million.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plane</a:t>
            </a:r>
          </a:p>
          <a:p>
            <a:pPr algn="l">
              <a:spcAft>
                <a:spcPts val="300"/>
              </a:spcAft>
            </a:pPr>
            <a:r>
              <a:rPr sz="1200" b="0">
                <a:solidFill>
                  <a:srgbClr val="5B6372"/>
                </a:solidFill>
                <a:latin typeface="Arial"/>
              </a:rPr>
              <a:t>LISP. The map server and map resolver answer 'where is this endpoint right now'.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Policy plane</a:t>
            </a:r>
          </a:p>
          <a:p>
            <a:pPr algn="l">
              <a:spcAft>
                <a:spcPts val="300"/>
              </a:spcAft>
            </a:pPr>
            <a:r>
              <a:rPr sz="1200" b="0">
                <a:solidFill>
                  <a:srgbClr val="5B6372"/>
                </a:solidFill>
                <a:latin typeface="Arial"/>
              </a:rPr>
              <a:t>TrustSec. An SGT is applied at ingress and enforced as an SGACL at egress — policy follows identity, not IP.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Fabric roles</a:t>
            </a:r>
          </a:p>
          <a:p>
            <a:pPr algn="l">
              <a:spcAft>
                <a:spcPts val="300"/>
              </a:spcAft>
            </a:pPr>
            <a:r>
              <a:rPr sz="1200" b="0">
                <a:solidFill>
                  <a:srgbClr val="5B6372"/>
                </a:solidFill>
                <a:latin typeface="Arial"/>
              </a:rPr>
              <a:t>Control plane node, border node, edge node and the wireless LAN controller.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Because the endpoint keeps its IP when it roams, policy and mobility both stop depending on the subnet.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ENCOR 1.4 · SD-ACCESS CONTROL AND DATA PLANES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Cisco SD-Access — The Full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daccess-stack.png"/>
          <p:cNvPicPr>
            <a:picLocks noChangeAspect="1"/>
          </p:cNvPicPr>
          <p:nvPr/>
        </p:nvPicPr>
        <p:blipFill>
          <a:blip r:embed="rId2"/>
          <a:stretch>
            <a:fillRect/>
          </a:stretch>
        </p:blipFill>
        <p:spPr>
          <a:xfrm>
            <a:off x="2492970" y="1783080"/>
            <a:ext cx="72057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LISP resolves where an endpoint is, VXLAN carries the frame there, and TrustSec decides whether it is allowed.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1.3 AND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SD-WAN and SD-Access — Do Not Confuse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Cisco SD-WAN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Cisco SD-Access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it applies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WAN, between sites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campus, inside a site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Control plane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OMP via vSmart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LISP via the control plane node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Data plane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IPsec tunnels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VXLAN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Policy</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Centralised and localised policy in vManage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SGTs enforced by TrustSec</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Managed by</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vManage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Cisco DNA Center</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Both are 'software-defined' and both appear in domain 1, but they solve different problems in different places. Exam questions rely on you keeping them apart.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Enterprise Architecture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Design principles · wireless design · SD-WAN · SD-Access · QoS · switching mechanisms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advClick="1">
    <p:push dir="l"/>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1.0 Architecture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15%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K1, A1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1–5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Enterprise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Enterprise campus designs are layered: a 2-tier (collapsed core) design merges core and distribution and suits a single building, while a 3-tier design keeps a dedicated core and is justified once you exceed roughly three distribution blocks.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access layer terminates end devices and enforces port security, PoE and QoS trust; the distribution layer aggregates and is the boundary where Layer 2 becomes Layer 3; the core is a high-speed, low-latency transit fabric that must never run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High availability is delivered in three planes: redundancy of hardware and links, FHRP (HSRP, VRRP, GLBP) for default-gateway resilience, and SSO/NSF so a supervisor failover does not tear down routing adjacencies.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Wireless deployment models trade control against latency — centralized (all traffic tunnelled to a WLC), distributed/FlexConnect (locally switched at the branch), controller-less (Mobility Express), cloud-managed (Meraki) and remote branch.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Enterprise Architecture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Location services (RSSI trilateration, Angle of Arrival with Hyperlocation, BLE beacons) drive asset tracking and analytics; accuracy depends on AP density and placement, not on client radio power.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Client density planning is a capacity problem, not a coverage problem: high-density areas need smaller cells, lower AP transmit power, narrower channel widths and band steering to 5 GHz.</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Cisco SD-WAN separates a control plane (vSmart), an orchestration plane (vBond), a management plane (vManage) and a data plane (vEdge/cEdge) — OMP distributes routes and policy, and IPsec builds the fabric.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Cisco SD-Access builds a VXLAN overlay on any IP underlay: the control plane is LISP (map server / map resolver), the data plane is VXLAN, and policy is carried as SGTs enforced by TrustSec.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Enterprise Architecture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QoS components are classification and marking (DSCP/CoS), queuing and scheduling (LLQ/CBWFQ), congestion avoidance (WRED), policing (drops) and shaping (buffers) — mark once, at the trust boundary, and act everywhere.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Wireless QoS maps DSCP to the 802.11e user-priority (WMM) access categories; a mismatch between the wired DSCP and the wireless UP is the most common reason voice quality collapses over Wi-Fi.</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Hardware switching is a table story: CAM is exact-match (MAC address table), TCAM is ternary and stores masked entries for ACLs and QoS, the FIB is the CEF-prepared copy of the RIB, and the adjacency table holds the rewrite information.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Cisco Express Forwarding replaces process and fast switching by building the FIB and adjacency table ahead of traffic — so the first packet of a flow is switched in hardware just like the millionth.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Enterprise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Investigate the CAM and TCAM Tables</a:t>
            </a:r>
          </a:p>
          <a:p>
            <a:pPr>
              <a:spcAft>
                <a:spcPts val="900"/>
              </a:spcAft>
            </a:pPr>
            <a:r>
              <a:rPr sz="1400" b="0">
                <a:solidFill>
                  <a:srgbClr val="161B26"/>
                </a:solidFill>
                <a:latin typeface="Arial"/>
              </a:rPr>
              <a:t>•  Analyse Cisco Express Forwarding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Two-Tier and Three-Tier Campus Designs</a:t>
            </a:r>
          </a:p>
          <a:p>
            <a:pPr>
              <a:spcAft>
                <a:spcPts val="900"/>
              </a:spcAft>
            </a:pPr>
            <a:r>
              <a:rPr sz="1400" b="0">
                <a:solidFill>
                  <a:srgbClr val="161B26"/>
                </a:solidFill>
                <a:latin typeface="Arial"/>
              </a:rPr>
              <a:t>•  Interpret Wired and Wireless QoS Configurations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Explore SD-WAN and SD-Access Architecture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Investigate the CAM and TCAM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hardware switching mechanisms such as CAM, TCAM, FIB, RIB and adjacency tables (ENCOR 1.6).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take the role of a campus network engineer verifying how an access switch actually forwards a frame. You generate traffic between hosts, watch the MAC address table (CAM) populate by learning source addresses, then age an entry out and observe the switch flood the unknown unicast. You finish by inspecting how TCAM stores the masked ACL and QoS entries that CAM's exact-match lookup cannot hold.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documented CAM table showing dynamically learned entries, one static entry you added, and a written comparison of CAM versus TCAM lookup behaviour.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 access switches, PC-A and PC-B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mac address-table dynamic' lists both PC MAC addresses against the correct ports and VLAN 10, 'show mac address-table static' shows your pinned entry, and you can state that CAM does exact-match on MAC while TCAM does masked match for ACL/QoS.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lab-01-cam-tcam/lab-01-cam-tcam.pkt and confirm PC-A (192.168.10.10) and PC-B (192.168.10.20) are in VLAN 10</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Clear the switch MAC address table so you start from a known empty state</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 clear mac address-table dynamic</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Display the empty table and note that only the CPU entries remain</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mac address-table</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From PC-A, ping PC-B to make the switch learn both source MAC addresses</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C:\&gt; ping 192.168.10.20</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Display the CAM table again and record the two dynamic entries, their VLAN and their ports</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 show mac address-table dynamic</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hardware switching mechanisms such as CAM, TCAM, FIB, RIB and adjacency tables (ENCOR 1.6).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Investigate the CAM and TCAM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mac address-table dynamic' lists both PC MAC addresses against the correct ports and VLAN 10, 'show mac address-table static' shows your pinned entry, and you can state that CAM does exact-match on MAC while TCAM does masked match for ACL/QoS.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Analyse Cisco Express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and verify CEF, the FIB and the adjacency table, and contrast them with process and fast switching (ENCOR 1.6).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Continuing as the campus engineer, you now move up to Layer 3 and prove how the router forwards in hardware. You examine the RIB, then the FIB that CEF builds from it ahead of any traffic, then the adjacency table that holds the Layer 2 rewrite. You disable CEF to watch forwarding fall back to process switching, observe the CPU cost, and re-enable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side-by-side record of the RIB, the FIB and the adjacency table for one destination prefix, plus measured evidence of the CPU difference when CEF is disabled.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 and R2 routers, PC-A and PC-B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ip cef' returns a populated FIB and 'show adjacency detail' shows a valid rewrite for the next hop; with CEF disabled you can point to a measurably higher CPU figure during the ping, and it falls again once CEF is re-enabled.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lab-02-cef/lab-02-cef.pkt and confirm R1 G0/0 is 192.168.10.1 and the R1–R2 link is 10.1.1.0/30</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Display the routing table (the RIB) — the control plane's view of the network</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ip route</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Display the FIB that CEF has pre-built from that RIB</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ip cef</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Look at one specific prefix in the FIB and note its next hop and outgoing interface</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ip cef 192.168.20.0</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Display the adjacency table holding the Layer 2 rewrite string for that next hop</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adjacency detail</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and verify CEF, the FIB and the adjacency table, and contrast them with process and fast switching (ENCOR 1.6).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Analyse Cisco Express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ip cef' returns a populated FIB and 'show adjacency detail' shows a valid rewrite for the next hop; with CEF disabled you can point to a measurably higher CPU figure during the ping, and it falls again once CEF is re-enabled.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Two-Tier and Three-Tier Campus Designs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enterprise design principles including 2-tier, 3-tier, fabric and cloud designs (ENCOR 1.1.a).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400-staff company on one campus is merging with a 2,000-staff company across four buildings. As the design engineer you must recommend a campus architecture for the merged organisation. You document the current 2-tier collapsed-core design, model the merged requirement, and justify whether a dedicated core layer is now warranted — the exact judgement the exam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design comparison table and a one-page written recommendation stating whether to move to a 3-tier design, with the trigger conditions that justify 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network diagram, design decision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recommendation names 3-tier for the merged network, shows the full-mesh link count that falls from six inter-block links to four uplinks once a core is added, and states that the core layer carries no ACLs or policy.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lab-03-campus-design/lab-03-campus-design.pkt and identify which switches are access and which are distribution</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what each layer is doing today — port security and PoE at access, routing at distribution</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SW-DIST-1# show ip route</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Confirm the distribution layer is the Layer 2 to Layer 3 boundary by checking the SVIs</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SW-DIST-1# show ip interface brief | include Vlan</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Count the distribution blocks the merged network will need (one per building)</a:t>
            </a:r>
          </a:p>
        </p:txBody>
      </p:sp>
      <p:cxnSp>
        <p:nvCxnSpPr>
          <p:cNvPr id="32" name="Connector 31"/>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7" name="TextBox 36"/>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Apply the design rule: a dedicated core is justified beyond roughly three distribution blocks</a:t>
            </a:r>
          </a:p>
        </p:txBody>
      </p:sp>
      <p:sp>
        <p:nvSpPr>
          <p:cNvPr id="38" name="Rectangle 37"/>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1" name="TextBox 40"/>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Explain enterprise design principles including 2-tier, 3-tier, fabric and cloud designs (ENCOR 1.1.a).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Two-Tier and Three-Tier Campus Designs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recommendation names 3-tier for the merged network, shows the full-mesh link count that falls from six inter-block links to four uplinks once a core is added, and states that the core layer carries no ACLs or policy.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Interpret Wired and Wireless QoS 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Interpret wired and wireless QoS configurations, including QoS components and QoS policy (ENCOR 1.5).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Voice calls on the campus wireless network are breaking up during busy periods. As the network engineer you trace the QoS treatment of a voice packet end to end: you read the classification and marking at the wired trust boundary, examine the queuing policy, then check how DSCP maps to the 802.11e WMM access category on the wireless side — where the mismatch usually 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documented end-to-end QoS policy showing the class map, policy map and service policy, plus the DSCP-to-WMM mapping table that explains the voice degradation.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 router, SW-1 switch, WLC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trace a voice packet from the phone's EF marking, through the trusted access port, into the priority queue on the WAN interface, and state which DSCP-to-WMM mapping is wrong and why calls break up.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lab-04-qos/lab-04-qos.pkt and locate the IP phone, the access switch and the WAN router</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Display the class maps that classify traffic into voice, video and best effort</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class-map</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Display the policy map that assigns bandwidth and priority to each class</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policy-map</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low-latency queue reserved for voice — the strict-priority queue</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show policy-map interface Serial0/0/0</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Read the marking: voice should carry DSCP EF (46), call signalling CS3 (24), video AF41 (34)</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show policy-map interface | include dscp</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Interpret wired and wireless QoS configurations, including QoS components and QoS policy (ENCOR 1.5).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Interpret Wired and Wireless QoS 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trace a voice packet from the phone's EF marking, through the trusted access port, into the priority queue on the WAN interface, and state which DSCP-to-WMM mapping is wrong and why calls break up.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SD-WAN and SD-Access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the working principles of the Cisco SD-WAN and SD-Access solutions and their control and data plane elements (ENCOR 1.3,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organisation is evaluating both Cisco SD-WAN for its branch WAN and SD-Access for its campus. As the architect you must be able to name every plane element and say what breaks if it fails. You map the four SD-WAN planes and the SD-Access LISP/VXLAN/TrustSec stack, then work through failure scenarios that the exam poses as 'what happens if…' questions.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completed architecture maps — SD-WAN's four planes and SD-Access's control/data/policy planes — plus a failure-impact table for each component.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architecture worksheet, sdwan-components.csv, sdaccess-components.csv</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name all four SD-WAN planes with their controller, state that a vSmart outage stops new route learning but not existing forwarding, and correctly identify LISP as the SD-Access control plane and VXLAN as its data plane.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lab-05-sdwan-sdaccess/ and read the two topology diagrams provided</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Map the SD-WAN orchestration plane to vBond and state what it does — authenticates and introduces devices</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Map the control plane to vSmart and note it distributes routes and policy over OMP, never carrying data</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Map the management plane to vManage — the GUI, API and configuration templates</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Map the data plane to the vEdge/cEdge routers that build the IPsec fabric between sites</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Explain the working principles of the Cisco SD-WAN and SD-Access solutions and their control and data plane elements (ENCOR 1.3,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SD-WAN and SD-Access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name all four SD-WAN planes with their controller, state that a vSmart outage stops new route learning but not existing forwarding, and correctly identify LISP as the SD-Access control plane and VXLAN as its data plane.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Enterprise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Describe hardware switching mechanisms such as CAM, TCAM, FIB, RIB and adjacency tables (ENCOR 1.6).</a:t>
            </a:r>
          </a:p>
          <a:p>
            <a:pPr>
              <a:spcAft>
                <a:spcPts val="1000"/>
              </a:spcAft>
            </a:pPr>
            <a:r>
              <a:rPr sz="1500" b="0">
                <a:solidFill>
                  <a:srgbClr val="161B26"/>
                </a:solidFill>
                <a:latin typeface="Arial"/>
              </a:rPr>
              <a:t>•  You can now: Describe and verify CEF, the FIB and the adjacency table, and contrast them with process and fast switching (ENCOR 1.6).</a:t>
            </a:r>
          </a:p>
          <a:p>
            <a:pPr>
              <a:spcAft>
                <a:spcPts val="1000"/>
              </a:spcAft>
            </a:pPr>
            <a:r>
              <a:rPr sz="1500" b="0">
                <a:solidFill>
                  <a:srgbClr val="161B26"/>
                </a:solidFill>
                <a:latin typeface="Arial"/>
              </a:rPr>
              <a:t>•  You can now: Explain enterprise design principles including 2-tier, 3-tier, fabric and cloud designs (ENCOR 1.1.a).</a:t>
            </a:r>
          </a:p>
          <a:p>
            <a:pPr>
              <a:spcAft>
                <a:spcPts val="1000"/>
              </a:spcAft>
            </a:pPr>
            <a:r>
              <a:rPr sz="1500" b="0">
                <a:solidFill>
                  <a:srgbClr val="161B26"/>
                </a:solidFill>
                <a:latin typeface="Arial"/>
              </a:rPr>
              <a:t>•  You can now: Interpret wired and wireless QoS configurations, including QoS components and QoS policy (ENCOR 1.5).</a:t>
            </a:r>
          </a:p>
          <a:p>
            <a:pPr>
              <a:spcAft>
                <a:spcPts val="1000"/>
              </a:spcAft>
            </a:pPr>
            <a:r>
              <a:rPr sz="1500" b="0">
                <a:solidFill>
                  <a:srgbClr val="161B26"/>
                </a:solidFill>
                <a:latin typeface="Arial"/>
              </a:rPr>
              <a:t>•  You can now: Explain the working principles of the Cisco SD-WAN and SD-Access solutions and their control and data plane elements (ENCOR 1.3, 1.4).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Virtualization Technologies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Hypervisors · virtual machines · virtual switching · VRF · GRE and IPsec · LISP and VXLAN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advClick="1">
    <p:push dir="l"/>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2.0 Virtualization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10%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K2, A2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6–9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Virtualization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Type 1 (bare-metal) hypervisor such as ESXi, KVM or Hyper-V runs directly on the hardware and is what data centres deploy; a Type 2 hypervisor such as VMware Workstation or VirtualBox runs as an application on a host OS and suits a lab.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virtual machine packages vCPU, vRAM, vNIC and virtual disk with a full guest OS — heavier than a container but fully isolated, which is why network functions (CSR 1000v, ASAv, WLC-v) ship as VMs.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Virtual switching (vSwitch, Cisco Nexus 1000v, DVS) moves the access layer inside the hypervisor: VM-to-VM traffic on the same host never touches a physical switch, which is exactly why it can bypass your physical ACLs.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VRF (Virtual Routing and Forwarding) creates multiple independent routing tables on one device — the same IP prefix can exist in two VRFs without conflict, giving Layer 3 segmentation without extra hardware.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Virtualization Technologies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VRF-Lite is VRF without MPLS: you define the VRF, assign interfaces with 'vrf forwarding', and every show/ping/traceroute must then be qualified with 'vrf &lt;name&gt;' or it consults the global table and appears to fail.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GRE tunnels are simple, multiprotocol and support routing protocols and multicast — but they provide no confidentiality, integrity or authentication whatsoever.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IPsec provides confidentiality, integrity, authentication and anti-replay; the classic enterprise pattern is GRE over IPsec, which gives you the routing and multicast support of GRE plus the protection of IPsec.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IPsec negotiates in two phases: IKE Phase 1 builds a bidirectional management tunnel (ISAKMP SA), and Phase 2 builds the unidirectional IPsec SAs that actually carry data — an interesting-traffic ACL mismatch is the classic Phase 2 failure.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Virtualization Technologies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300" b="0">
                <a:solidFill>
                  <a:srgbClr val="161B26"/>
                </a:solidFill>
                <a:latin typeface="Arial"/>
              </a:rPr>
              <a:t>LISP splits location from identity: an EID identifies the endpoint and an RLOC identifies where it currently attaches, with a map server / map resolver providing the lookup — this is what makes SD-Access mobility work.</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300" b="0">
                <a:solidFill>
                  <a:srgbClr val="161B26"/>
                </a:solidFill>
                <a:latin typeface="Arial"/>
              </a:rPr>
              <a:t>VXLAN encapsulates a Layer 2 frame in UDP (port 4789) and carries it across a routed underlay, extending Layer 2 without spanning tree and lifting the segment ceiling from 4,094 VLANs to 16 million VNIs.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ENCOR 2.3.b · NETWORK VIRTUALIZATION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Decoding the VXLAN Header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xlan-header.png"/>
          <p:cNvPicPr>
            <a:picLocks noChangeAspect="1"/>
          </p:cNvPicPr>
          <p:nvPr/>
        </p:nvPicPr>
        <p:blipFill>
          <a:blip r:embed="rId2"/>
          <a:stretch>
            <a:fillRect/>
          </a:stretch>
        </p:blipFill>
        <p:spPr>
          <a:xfrm>
            <a:off x="2265420" y="1783080"/>
            <a:ext cx="7660855"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Fifty bytes of overhead is why the underlay MTU must be at least 1550 — an underlay left at 1500 silently drops or fragments.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Virtualization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6–7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and Verify VRF-Lite</a:t>
            </a:r>
          </a:p>
          <a:p>
            <a:pPr>
              <a:spcAft>
                <a:spcPts val="900"/>
              </a:spcAft>
            </a:pPr>
            <a:r>
              <a:rPr sz="1400" b="0">
                <a:solidFill>
                  <a:srgbClr val="161B26"/>
                </a:solidFill>
                <a:latin typeface="Arial"/>
              </a:rPr>
              <a:t>•  Configure and Verify a GRE Tunnel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and Verify a Site-to-Site IPsec VPN</a:t>
            </a:r>
          </a:p>
          <a:p>
            <a:pPr>
              <a:spcAft>
                <a:spcPts val="900"/>
              </a:spcAft>
            </a:pPr>
            <a:r>
              <a:rPr sz="1400" b="0">
                <a:solidFill>
                  <a:srgbClr val="161B26"/>
                </a:solidFill>
                <a:latin typeface="Arial"/>
              </a:rPr>
              <a:t>•  Explore LISP and VXLAN Network Virtualization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VRF-Lite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data path virtualization technologies — VRF (ENCOR 2.2.a).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organisation must keep guest traffic and corporate traffic completely separate on the same physical router, and the acquisition it just completed uses the same 192.168.1.0/24 range as head office. As the network engineer you solve both problems with VRF-Lite: two independent routing tables on one device, with overlapping address space and no leaking between them.</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router carrying two VRFs (CORP and GUEST) with overlapping 192.168.1.0/24 prefixes, proven isolated by a VRF-aware ping that succeeds inside a VRF and fails across VRFs.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 router, CORP-PC and GUEST-PC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vrf' lists CORP and GUEST with their interfaces, both VRF routing tables carry 192.168.1.0/24 independently, 'ping vrf CORP' succeeds, and the unqualified ping fails — proving isolation rather than a broken configuration.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lab-06-vrf-lite/lab-06-vrf-lite.pkt and note both PCs use 192.168.1.10 in different VRFs</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Create the CORP VRF on R1</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vrf definition CORP</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Enable IPv4 address family inside the VRF</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R1(config-vrf)# address-family ipv4</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Create the GUEST VRF the same way</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vrf definition GUEST</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Assign G0/0 to the CORP VRF — note this clears any existing IP address</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R1(config-if)# vrf forwarding CORP</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data path virtualization technologies — VRF (ENCOR 2.2.a).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VRF-Lite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vrf' lists CORP and GUEST with their interfaces, both VRF routing tables carry 192.168.1.0/24 independently, 'ping vrf CORP' succeeds, and the unqualified ping fails — proving isolation rather than a broken configuration.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a GRE Tunnel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data path virtualization technologies — GRE tunneling (ENCOR 2.2.b).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Head office and the branch are connected only across the public internet, but the routing protocol and multicast traffic they need to exchange cannot cross it. As the WAN engineer you build a GRE tunnel that carries those private networks over the public path, then demonstrate the critical limitation the exam always tests: GRE gives you transport, not confidentiality.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GRE tunnel between RA (64.103.211.2) and RB (209.165.122.2) carrying 192.168.1.0/24 and 192.168.2.0/24, verified up/up with traffic passing.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RA and RB routers, PCA and PCB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interfaces Tunnel0' reports Tunnel0 up, line protocol up with the correct source and destination, PCA pings PCB successfully, and you can state that GRE adds no encryption, authentication or integrity.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lab-07-gre/lab-07-gre.pkt and confirm RA and RB can reach each other over their public addresses</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RA# ping 209.165.122.2</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Create the tunnel interface on RA</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RA(config)# interface Tunnel0</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Give the tunnel its own private address in the 10.10.10.0/30 transit range</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RA(config-if)# ip address 10.10.10.1 255.255.255.252</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Set the tunnel source to RA's public interface</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RA(config-if)# tunnel source Serial0/0/0</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the tunnel destination to RB's public address</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RA(config-if)# tunnel destination 209.165.122.2</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data path virtualization technologies — GRE tunneling (ENCOR 2.2.b).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a GRE Tunnel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interfaces Tunnel0' reports Tunnel0 up, line protocol up with the correct source and destination, PCA pings PCB successfully, and you can state that GRE adds no encryption, authentication or integrity.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a Site-to-Site IPsec VPN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data path virtualization technologies — IPsec tunneling (ENCOR 2.2.b).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GRE tunnel from the previous lab carries payroll data in clear text, and the audit has flagged it. As the security-minded network engineer you now build a site-to-site IPsec VPN between R1 and R3 across the R2 ISP, working through both IKE phases and proving the tunnel only forms once interesting traffic matches on both ends.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functioning site-to-site IPsec VPN between R1 (192.168.1.0/24) and R3 (192.168.3.0/24) with a formed ISAKMP SA, established IPsec SAs and encrypted packet counters incrementing.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PC-A and PC-C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crypto isakmp sa' shows the peer in QM_IDLE and 'show crypto ipsec sa' shows non-zero '#pkts encaps' and '#pkts decaps' counters that increase with each ping — traffic between the two LANs is genuinely encrypted.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lab-08-ipsec-vpn/lab-08-ipsec-vpn.pkt and confirm R1 and R3 reach each other through R2</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ping 10.2.2.2</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Enable the security technology package if the lab image requires it</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license boot module c1900 technology-package securityk9</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Create the IKE Phase 1 policy defining how the management tunnel is protected</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crypto isakmp policy 10</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Set AES encryption, SHA hashing, pre-shared key authentication and DH group 5</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R1(config-isakmp)# encryption aes 256</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the pre-shared key and the peer it applies to</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crypto isakmp key Cisco123 address 10.2.2.2</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data path virtualization technologies — IPsec tunneling (ENCOR 2.2.b).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a Site-to-Site IPsec VPN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crypto isakmp sa' shows the peer in QM_IDLE and 'show crypto ipsec sa' shows non-zero '#pkts encaps' and '#pkts decaps' counters that increase with each ping — traffic between the two LANs is genuinely encrypted.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LISP and VXLAN Network Virtualization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network virtualization concepts — LISP and VXLAN (ENCOR 2.3.a, 2.3.b).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campus is moving to SD-Access, whose entire mobility story rests on LISP and whose data plane is VXLAN. As the network engineer you must be able to trace a packet through both. You walk the LISP map-request and map-reply exchange, follow an endpoint that roams between edge switches, then decode a VXLAN header field by field and calculate the encapsulation overhead.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annotated LISP registration and lookup walkthrough, a completed VXLAN header decode with all field sizes, and a calculated MTU requirement for the underlay.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packet-decode worksheet, vxlan-header.csv, lisp-mapping.csv</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state the LISP lookup sequence (register, map-request, map-reply, cache), explain why an EID survives a roam, name UDP 4789 as the VXLAN port, and calculate the 50-byte overhead and the 1550-byte minimum underlay MTU.</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lab-09-lisp-vxlan/ and read the fabric topology showing edge nodes, border node and control plane node</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EID — the endpoint identifier, the host's own IP address that never changes as it roams</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RLOC — the routing locator, the address of the edge switch the host is attached to now</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Trace registration: the edge node registers the EID-to-RLOC binding with the map server</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Trace lookup: an ingress tunnel router sends a map-request to the map resolver</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network virtualization concepts — LISP and VXLAN (ENCOR 2.3.a, 2.3.b).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LISP and VXLAN Network Virtualization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state the LISP lookup sequence (register, map-request, map-reply, cache), explain why an EID survives a roam, name UDP 4789 as the VXLAN port, and calculate the 50-byte overhead and the 1550-byte minimum underlay MTU.</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Virtualization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Configure and verify data path virtualization technologies — VRF (ENCOR 2.2.a).</a:t>
            </a:r>
          </a:p>
          <a:p>
            <a:pPr>
              <a:spcAft>
                <a:spcPts val="1000"/>
              </a:spcAft>
            </a:pPr>
            <a:r>
              <a:rPr sz="1500" b="0">
                <a:solidFill>
                  <a:srgbClr val="161B26"/>
                </a:solidFill>
                <a:latin typeface="Arial"/>
              </a:rPr>
              <a:t>•  You can now: Configure and verify data path virtualization technologies — GRE tunneling (ENCOR 2.2.b).</a:t>
            </a:r>
          </a:p>
          <a:p>
            <a:pPr>
              <a:spcAft>
                <a:spcPts val="1000"/>
              </a:spcAft>
            </a:pPr>
            <a:r>
              <a:rPr sz="1500" b="0">
                <a:solidFill>
                  <a:srgbClr val="161B26"/>
                </a:solidFill>
                <a:latin typeface="Arial"/>
              </a:rPr>
              <a:t>•  You can now: Configure and verify data path virtualization technologies — IPsec tunneling (ENCOR 2.2.b).</a:t>
            </a:r>
          </a:p>
          <a:p>
            <a:pPr>
              <a:spcAft>
                <a:spcPts val="1000"/>
              </a:spcAft>
            </a:pPr>
            <a:r>
              <a:rPr sz="1500" b="0">
                <a:solidFill>
                  <a:srgbClr val="161B26"/>
                </a:solidFill>
                <a:latin typeface="Arial"/>
              </a:rPr>
              <a:t>•  You can now: Describe network virtualization concepts — LISP and VXLAN (ENCOR 2.3.a, 2.3.b).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Infrastructure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Layer 2 · Layer 3 routing · wireless · IP services — the largest exam domain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advClick="1">
    <p:push dir="l"/>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3.0 Infrastructure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30%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K3, A3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10–21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An 802.1Q trunk carries multiple VLANs on one link by inserting a 4-byte tag; the native VLAN is sent untagged, and a native-VLAN mismatch between two ends produces VLAN leaking that CDP will warn you about.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DTP negotiates trunking automatically, which is convenient and insecure — production practice is to hard-set 'switchport mode trunk' or 'access' and disable negotiation with 'switchport nonegotiate'.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EtherChannel bundles up to eight physical links into one logical link; PAgP is Cisco-proprietary (desirable/auto) and LACP is the IEEE 802.3ad standard (active/passive) — two 'auto' or two 'passive' ends will never form a bundle.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EtherChannel members must match on speed, duplex, trunk mode, allowed VLAN list and native VLAN — a mismatch on any of these suspends the port, and 'show etherchannel summary' flags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STP elects a root bridge by lowest bridge ID (priority + MAC), then each non-root switch picks one root port by lowest cumulative path cost, then each segment picks a designated port — every remaining port is blocked.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RSTP (802.1w) converges in seconds rather than the 30–50 seconds of legacy STP by using proposal/agreement on point-to-point links, plus alternate and backup port roles that are pre-computed standby paths.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MST (802.1s) maps many VLANs onto a few instances so a 1,000-VLAN campus runs two or three spanning trees instead of a thousand — switches only share an MST region when name, revision and VLAN-to-instance map match exactly.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STP protection features each defend a different attack: PortFast skips listening/learning on edge ports, BPDU guard shuts a PortFast port that receives a BPDU, root guard prevents a superior BPDU from moving the root, and loop guard covers unidirectional link failures.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EIGRP is an advanced distance-vector protocol using DUAL: the successor is the best path, and a feasible successor is a guaranteed loop-free backup that meets the feasibility condition (its reported distance is less than the current feasible distance).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OSPF is a link-state protocol: every router floods LSAs, builds an identical LSDB for the area, and independently runs Dijkstra's SPF to compute its own shortest-path tree — cost is the metric, by default reference bandwidth over interface bandwidth.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OSPF area types control LSA flooding: a stub area blocks external LSAs (Type 5), a totally stubby area also blocks summaries (Type 3), and NSSA allows local redistribution via Type 7 LSAs that the ABR translates to Type 5.</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OSPF neighbours only form when hello/dead timers, area ID, subnet mask, authentication and stub flags all match; on broadcast networks a DR and BDR are elected to prevent an n-squared adjacency mesh.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eBGP is a path-vector protocol between autonomous systems: it forms TCP 179 sessions with explicitly configured neighbours, and its best-path algorithm evaluates weight, local preference, AS-path length, origin, MED and more — in that order.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eBGP peers are normally directly connected and default to a TTL of 1; peering to a loopback therefore requires 'ebgp-multihop' and 'update-source', which is the most common eBGP lab failure.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Policy-based routing overrides the routing table for selected traffic using a route-map matched on an ACL, letting you send (say) guest traffic out a different path than the RIB's best path.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Wireless Layer 1 is a power budget: RSSI is the received signal strength, SNR is the margin between signal and noise floor, and a healthy data connection wants roughly -67 dBm RSSI and 25 dB SNR.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AP modes serve different jobs — local (normal service), FlexConnect (branch local switching), monitor (scanning only), sniffer (packet capture), bridge/mesh, and SE-Connect for spectrum analysis.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An AP joins a WLC by CAPWAP: it discovers candidate controllers (broadcast, DHCP option 43, DNS, or a previously learnt list), selects one by priority and AP capacity, then builds a DTLS-encrypted CAPWAP control tunnel on UDP 5246 and a data tunnel on UDP 5247.</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Layer 2 roaming keeps the client in the same subnet so only the AP association changes; Layer 3 roaming crosses a subnet boundary and requires an anchor/foreign controller tunnel so the client's IP address survives the move.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NTP disciplines clocks in a stratum hierarchy so logs, certificates and troubleshooting timelines correlate; PTP (1588) provides sub-microsecond hardware-timestamped accuracy where NTP's millisecond accuracy is not enough.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Infrastructure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NAT translates a private inside-local address to a public inside-global address; PAT overloads one public address across many hosts by also translating the source port, which is why 'ip nat inside source list 1 interface g0/0 overload' is the ubiquitous branch configuration.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First-hop redundancy protocols present one virtual IP and virtual MAC to hosts: HSRP is Cisco (active/standby, group 0 default, preemption off by default), VRRP is the standard (master/backup, preemption on by default), and GLBP additionally load-balances across gateways.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Multicast delivers one stream to many receivers: IGMP is how hosts join a group on the LAN, PIM builds the distribution tree between routers, and the Reverse Path Forwarding check discards any multicast packet that did not arrive on the interface the router would use to reach the source.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ENCOR 3.1.c · SPANNING TREE ENHANCEMENTS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Spanning Tree Protection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p-protection.png"/>
          <p:cNvPicPr>
            <a:picLocks noChangeAspect="1"/>
          </p:cNvPicPr>
          <p:nvPr/>
        </p:nvPicPr>
        <p:blipFill>
          <a:blip r:embed="rId2"/>
          <a:stretch>
            <a:fillRect/>
          </a:stretch>
        </p:blipFill>
        <p:spPr>
          <a:xfrm>
            <a:off x="2957289" y="1783080"/>
            <a:ext cx="6277116"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BPDU guard err-disables the port and must be recovered; root guard's root-inconsistent state clears by itself. That difference is examined.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Infrastructure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10–13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Troubleshoot 802.1Q Trunking and DTP</a:t>
            </a:r>
          </a:p>
          <a:p>
            <a:pPr>
              <a:spcAft>
                <a:spcPts val="900"/>
              </a:spcAft>
            </a:pPr>
            <a:r>
              <a:rPr sz="1400" b="0">
                <a:solidFill>
                  <a:srgbClr val="161B26"/>
                </a:solidFill>
                <a:latin typeface="Arial"/>
              </a:rPr>
              <a:t>•  Troubleshoot Static and Dynamic EtherChannels</a:t>
            </a:r>
          </a:p>
          <a:p>
            <a:pPr>
              <a:spcAft>
                <a:spcPts val="900"/>
              </a:spcAft>
            </a:pPr>
            <a:r>
              <a:rPr sz="1400" b="0">
                <a:solidFill>
                  <a:srgbClr val="161B26"/>
                </a:solidFill>
                <a:latin typeface="Arial"/>
              </a:rPr>
              <a:t>•  Configure RSTP and Tune the Spanning Tree</a:t>
            </a:r>
          </a:p>
          <a:p>
            <a:pPr>
              <a:spcAft>
                <a:spcPts val="900"/>
              </a:spcAft>
            </a:pPr>
            <a:r>
              <a:rPr sz="1400" b="0">
                <a:solidFill>
                  <a:srgbClr val="161B26"/>
                </a:solidFill>
                <a:latin typeface="Arial"/>
              </a:rPr>
              <a:t>•  Configure Multiple Spanning Tree (MST)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14–17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Harden the Spanning Tree with PortFast, BPDU Guard and Root Guard</a:t>
            </a:r>
          </a:p>
          <a:p>
            <a:pPr>
              <a:spcAft>
                <a:spcPts val="900"/>
              </a:spcAft>
            </a:pPr>
            <a:r>
              <a:rPr sz="1400" b="0">
                <a:solidFill>
                  <a:srgbClr val="161B26"/>
                </a:solidFill>
                <a:latin typeface="Arial"/>
              </a:rPr>
              <a:t>•  Compare EIGRP and OSPF Path Selection</a:t>
            </a:r>
          </a:p>
          <a:p>
            <a:pPr>
              <a:spcAft>
                <a:spcPts val="900"/>
              </a:spcAft>
            </a:pPr>
            <a:r>
              <a:rPr sz="1400" b="0">
                <a:solidFill>
                  <a:srgbClr val="161B26"/>
                </a:solidFill>
                <a:latin typeface="Arial"/>
              </a:rPr>
              <a:t>•  Configure Multiarea OSPFv2 with Summarization and Filtering</a:t>
            </a:r>
          </a:p>
          <a:p>
            <a:pPr>
              <a:spcAft>
                <a:spcPts val="900"/>
              </a:spcAft>
            </a:pPr>
            <a:r>
              <a:rPr sz="1400" b="0">
                <a:solidFill>
                  <a:srgbClr val="161B26"/>
                </a:solidFill>
                <a:latin typeface="Arial"/>
              </a:rPr>
              <a:t>•  Configure Multiarea OSPFv3 for IPv6</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18–21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and Verify eBGP</a:t>
            </a:r>
          </a:p>
          <a:p>
            <a:pPr>
              <a:spcAft>
                <a:spcPts val="900"/>
              </a:spcAft>
            </a:pPr>
            <a:r>
              <a:rPr sz="1400" b="0">
                <a:solidFill>
                  <a:srgbClr val="161B26"/>
                </a:solidFill>
                <a:latin typeface="Arial"/>
              </a:rPr>
              <a:t>•  Configure a Basic WLAN and WPA2-Enterprise on the WLC</a:t>
            </a:r>
          </a:p>
          <a:p>
            <a:pPr>
              <a:spcAft>
                <a:spcPts val="900"/>
              </a:spcAft>
            </a:pPr>
            <a:r>
              <a:rPr sz="1400" b="0">
                <a:solidFill>
                  <a:srgbClr val="161B26"/>
                </a:solidFill>
                <a:latin typeface="Arial"/>
              </a:rPr>
              <a:t>•  Troubleshoot WLAN and Wireless Client Connectivity</a:t>
            </a:r>
          </a:p>
          <a:p>
            <a:pPr>
              <a:spcAft>
                <a:spcPts val="900"/>
              </a:spcAft>
            </a:pPr>
            <a:r>
              <a:rPr sz="1400" b="0">
                <a:solidFill>
                  <a:srgbClr val="161B26"/>
                </a:solidFill>
                <a:latin typeface="Arial"/>
              </a:rPr>
              <a:t>•  Configure NTP, NAT/PAT and HSRP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802.1Q Trunking and DTP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Troubleshoot static and dynamic 802.1q trunking protocols (ENCOR 3.1.a).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Users in VLAN 20 on the second floor have lost access to their file server while VLAN 10 users are unaffected. As the support engineer you work the trunk between S1 and S2: you verify the trunk formed at all, check the allowed VLAN list that is silently pruning VLAN 20, and resolve a native VLAN mismatch that CDP is already warning you about in the logs.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repaired 802.1Q trunk carrying VLANs 10, 20 and 99 with a matching native VLAN on both ends, and DTP disabled in favour of a hard-set trunk.</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S1/S2/S3 switches, PC0–PC5</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interfaces trunk' reports mode 'on' with VLANs 10, 20 and 99 allowed and native VLAN 99 on both switches, the mismatch log stops, and the VLAN 20 PC pings its server.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lab-10-trunking-dtp/lab-10-trunking-dtp.pkt and confirm PC1 (VLAN 20) cannot reach the server</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C:\&gt; ping 192.168.20.1</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Check whether the link between S1 and S2 formed a trunk at all</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interfaces trunk</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Look at the switchport detail — note the administrative and operational mode differ</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 show interfaces GigabitEthernet0/1 switchport</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Read the DTP negotiation state; two 'dynamic auto' ends never form a trunk</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 show dtp interface GigabitEthernet0/1</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Hard-set the trunk on S1 rather than relying on negotiation</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S1(config-if)# switchport mode trunk</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Troubleshoot static and dynamic 802.1q trunking protocols (ENCOR 3.1.a).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802.1Q Trunking and DTP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interfaces trunk' reports mode 'on' with VLANs 10, 20 and 99 allowed and native VLAN 99 on both switches, the mismatch log stops, and the VLAN 20 PC pings its server.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Static and Dynamic EtherChannels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Troubleshoot static and dynamic EtherChannels — PAgP and LACP (ENCOR 3.1.b).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Three EtherChannel bundles were configured across the distribution layer over the weekend and only one came up. As the engineer on duty you diagnose each: one has both ends passive so LACP never initiates, one has a speed and duplex mismatch that suspends a member port, and one mixes PAgP on one end with LACP on the other — a combination that can never negotiate.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working EtherChannel bundles — Po1 with PAgP, Po2 with LACP and Po3 negotiated LACP — all showing SU (in use) with every member port bundled.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S1/S2/S3 switches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etherchannel summary' shows Po1, Po2 and Po3 all with flags (SU) and every member port marked (P) for bundled — no (s) suspended and no (D) down ports remain.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lab-11-etherchannel/lab-11-etherchannel.pkt and check the state of all three port channels</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etherchannel summary</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Read the flags column — SU means in use, SD means down, and (s) means suspended</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Investigate Po2 where both ends were left passive</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 show etherchannel 2 port-channel</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S1's end of Po2 to LACP active so one side initiates</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S1(config-if-range)# channel-group 2 mode active</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Confirm the S2 end stays passive — active-to-passive is a valid LACP pairing</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S2# show etherchannel summary</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Troubleshoot static and dynamic EtherChannels — PAgP and LACP (ENCOR 3.1.b).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Static and Dynamic EtherChannels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etherchannel summary' shows Po1, Po2 and Po3 all with flags (SU) and every member port marked (P) for bundled — no (s) suspended and no (D) down ports remain.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RSTP and Tune the Spanning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common Spanning Tree Protocols — RSTP — and Spanning Tree enhancements (ENCOR 3.1.c).</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spanning tree in the distribution block elected an access switch as root, so traffic between two distribution switches is taking a suboptimal path through the wiring closet. As the engineer you deterministically move the root where it belongs, tune the port costs, migrate the network from legacy PVST+ to Rapid PVST+, and measure the convergence improvement.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spanning tree with S1 as the deterministic root bridge and S2 as the secondary, running Rapid PVST+, with a measured convergence time on link failure.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S1/S2/S3 switches, PC-A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spanning-tree vlan 1' on S1 states 'This bridge is the root' with priority 4096, all switches report protocol rstp, and your recorded convergence after the link failure is seconds rather than the 30–50 seconds of legacy STP.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lab-12-rstp/lab-12-rstp.pkt and identify which switch is currently root for VLAN 1</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spanning-tree vlan 1</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Note the root bridge ID and compare it with each switch's own bridge ID</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 show spanning-tree vlan 1 | include Root ID|Bridge ID</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which ports are root, designated and blocking across the three switches</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 show spanning-tree vlan 1 | include Desg|Root|Altn</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Make S1 the primary root using the macro, which sets a priority below the current root</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 spanning-tree vlan 1 root primary</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Make S2 the secondary root so failover is also deterministic</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S2(config)# spanning-tree vlan 1 root secondary</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common Spanning Tree Protocols — RSTP — and Spanning Tree enhancements (ENCOR 3.1.c).</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RSTP and Tune the Spanning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spanning-tree vlan 1' on S1 states 'This bridge is the root' with priority 4096, all switches report protocol rstp, and your recorded convergence after the link failure is seconds rather than the 30–50 seconds of legacy STP.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Multiple Spanning Tree (MST)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common Spanning Tree Protocols — MST (ENCOR 3.1.c).</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campus carries 200 VLANs, and running one spanning tree per VLAN is consuming switch CPU and making troubleshooting impractical. As the engineer you consolidate them onto two MST instances, load-balancing the VLANs across two roots, and confirm all switches join the same MST region — which requires name, revision and VLAN map to match exactly.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three-switch MST region named CAMPUS with VLANs mapped to instances 1 and 2, S1 root for instance 1 and S2 root for instance 2, giving true load distribution.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S1/S2/S3 switches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spanning-tree mst configuration' returns the same region name CAMPUS, revision 1 and identical configuration digest on all three switches, and 'show spanning-tree mst' shows S1 root for instance 1 and S2 root for instance 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lab-13-mst/lab-13-mst.pkt and count how many spanning tree instances are running today</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spanning-tree summary</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Change the spanning tree mode to MST on S1</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 spanning-tree mode mst</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Enter MST configuration mode to define the region</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 spanning-tree mst configuration</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Name the region — this must match character for character on every switch</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S1(config-mst)# name CAMPUS</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the revision number, which must also match exactly</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S1(config-mst)# revision 1</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common Spanning Tree Protocols — MST (ENCOR 3.1.c).</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Multiple Spanning Tree (MST)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spanning-tree mst configuration' returns the same region name CAMPUS, revision 1 and identical configuration digest on all three switches, and 'show spanning-tree mst' shows S1 root for instance 1 and S2 root for instance 2.</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Harden the Spanning Tree with PortFast, BPDU Guard and Root 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Spanning Tree enhancements such as root guard and BPDU guard (ENCOR 3.1.c).</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contractor plugged a personal switch into a meeting-room wall port last month and became the spanning tree root, black-holing the floor for four minutes. As the engineer you make that impossible: PortFast on edge ports so hosts get an instant link, BPDU guard to shut any edge port that receives a BPDU, and root guard on the distribution uplinks.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Edge ports running PortFast with BPDU guard globally enabled, root guard on the distribution-facing uplinks, and a demonstrated err-disable when a rogue BPDU arrives.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S1/S2/S3 switches, rogue switch, PC-A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rogue switch's BPDU puts the PortFast port into err-disabled with a BPDUGUARD log entry, 'show spanning-tree inconsistentports' reports a root-inconsistent port when a superior BPDU hits the guarded uplink, and errdisable recovery is armed.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lab-14-stp-hardening/lab-14-stp-hardening.pkt and time how long a PC port takes to forward</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Enable PortFast on the access port so it skips listening and learning</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S1(config-if)# spanning-tree portfast</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Enable PortFast by default on all non-trunking ports</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 spanning-tree portfast default</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Verify PortFast is active on the interface</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 show spanning-tree interface FastEthernet0/1 portfast</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Enable BPDU guard on that specific interface</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S1(config-if)# spanning-tree bpduguard enable</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Spanning Tree enhancements such as root guard and BPDU guard (ENCOR 3.1.c).</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Harden the Spanning Tree with PortFast, BPDU Guard and Root 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rogue switch's BPDU puts the PortFast port into err-disabled with a BPDUGUARD log entry, 'show spanning-tree inconsistentports' reports a root-inconsistent port when a superior BPDU hits the guarded uplink, and errdisable recovery is armed.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EIGRP and OSPF Path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routing concepts of EIGRP and OSPF — advanced distance vector versus link state, load balancing, path selection, metrics and area types (ENCOR 3.2.a).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network runs EIGRP in the legacy branch estate and OSPF in the new campus, and you must explain to management why the two choose different paths across the identical topology. As the engineer you configure both over the same links, compare their metrics, and demonstrate the one capability EIGRP has that OSPF does not: unequal-cost load balancing.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Both protocols running over one topology with documented metric calculations, an identified successor and feasible successor in EIGRP, and working unequal-cost load balancing via the variance command.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ip eigrp topology' identifies a successor and at least one feasible successor with its reported distance, the routing table shows two unequal-cost paths after variance 2, and OSPF neighbours reach FULL with a cost you can calculate from reference bandwidth over interface bandwidth.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lab-15-eigrp-ospf/lab-15-eigrp-ospf.pkt and review the three-router topology with unequal-bandwidth links</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Enable EIGRP in named mode on R1</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router eigrp CAMPUS</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Enter the IPv4 unicast address family with autonomous system 100</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R1(config-router)# address-family ipv4 unicast autonomous-system 100</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Advertise the connected networks</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R1(config-router-af)# network 172.16.0.0 0.0.255.255</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Verify the EIGRP neighbours have formed</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show ip eigrp neighbors</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routing concepts of EIGRP and OSPF — advanced distance vector versus link state, load balancing, path selection, metrics and area types (ENCOR 3.2.a).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EIGRP and OSPF Path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ip eigrp topology' identifies a successor and at least one feasible successor with its reported distance, the routing table shows two unequal-cost paths after variance 2, and OSPF neighbours reach FULL with a cost you can calculate from reference bandwidth over interface bandwidth.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Multiarea OSPFv2 with Summarization and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simple OSPFv2 environments including multiple normal areas, summarization and filtering (ENCOR 3.2.b).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campus OSPF domain has grown to a single area carrying 400 routes, and every link flap triggers a full SPF run everywhere. As the engineer you split it into multiple areas, place the ABR correctly, summarise at the area boundary to contain the flooding, and make LAN interfaces passive so no adjacency is ever attempted towards a host.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multiarea OSPFv2 domain with area 0 backbone plus areas 1 and 2, route summarization at the ABR, passive LAN interfaces, and a stub area that blocks external LSAs.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PC1/PC2/PC3</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OSPF neighbours are FULL, 'show ip ospf' identifies the ABR with interfaces in two areas, the area 1 prefixes appear as one summarised Type 3 LSA in the backbone, and the stub area's database contains no Type 5 external LSAs.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lab-16-ospf-multiarea/lab-16-ospf-multiarea.pkt and note R1 172.16.1.1, R2 172.16.2.1, R3 192.168.1.1</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Start OSPF process 10 on R1 and set the router ID</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R1(config)# router ospf 10</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Set the router ID explicitly to 1.1.1.1</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R1(config-router)# router-id 1.1.1.1</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Place the backbone link into area 0</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R1(config-router)# network 172.16.3.0 0.0.0.3 area 0</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Place the LAN into area 1</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R1(config-router)# network 172.16.1.0 0.0.0.255 area 1</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simple OSPFv2 environments including multiple normal areas, summarization and filtering (ENCOR 3.2.b).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Multiarea OSPFv2 with Summarization and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OSPF neighbours are FULL, 'show ip ospf' identifies the ABR with interfaces in two areas, the area 1 prefixes appear as one summarised Type 3 LSA in the backbone, and the stub area's database contains no Type 5 external LSAs.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Multiarea OSPFv3 for IPv6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simple OSPFv3 environments including multiple normal areas (ENCOR 3.2.b).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organisation is dual-stacking, and IPv6 needs its own routing. As the engineer you configure OSPFv3 across three routers, working with the differences that catch people out: OSPFv3 is enabled per interface rather than with network statements, it still needs a 32-bit router ID even though it routes IPv6, and adjacencies form over link-local addresses.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multiarea OSPFv3 domain with RA in area 1, RB in area 0 and RC in area 2, full adjacencies over link-local addresses, and end-to-end IPv6 reachability.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RA/RB/RC routers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ipv6 ospf neighbor' shows all neighbours FULL with link-local addresses as the neighbour address, 'show ipv6 route ospf' contains OI inter-area routes, and RA pings RC's LAN across the backbone.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lab-17-ospfv3/lab-17-ospfv3.pkt and note the 2001:db8:1::/64 addressing plan</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Enable IPv6 unicast routing — nothing IPv6 works without it</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 ipv6 unicast-routing</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Start the OSPFv3 process</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 ipv6 router ospf 10</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the 32-bit router ID, still required even though this routes IPv6</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RA(config-rtr)# router-id 1.1.1.1</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Move to the LAN interface and enable OSPFv3 on it directly</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RA(config-if)# ipv6 ospf 10 area 1</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simple OSPFv3 environments including multiple normal areas (ENCOR 3.2.b).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Multiarea OSPFv3 for IPv6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ipv6 ospf neighbor' shows all neighbours FULL with link-local addresses as the neighbour address, 'show ipv6 route ospf' contains OI inter-area routes, and RA pings RC's LAN across the backbone.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eBGP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eBGP between directly connected neighbours, including best path selection and neighbour relationships (ENCOR 3.2.c).</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ACME is multihoming to two ISP entry points for internet resilience. As the WAN engineer you configure eBGP to both providers, advertise your own prefix, then influence which path inbound and outbound traffic takes — and you deliberately break the session by peering to a loopback without ebgp-multihop, so you recognise the most common eBGP failure in the field.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Established eBGP sessions from ACME1 to both ISP entry points, the local prefix advertised and visible in both providers' tables, and a demonstrated path preference change.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ACME1, OtherCo1, ISP-Entry-1, ISP-Entry-2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ip bgp summary' shows both neighbours Established with a non-zero prefix count, 'show ip bgp' marks the best path with &gt;, and after the local preference change the best-path marker moves to the preferred provider's route.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lab-18-ebgp/lab-18-ebgp.pkt and confirm ACME1 S0/0/0 is 1.1.1.2 peering to 1.1.1.1</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ACME1# ping 1.1.1.1</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Start BGP with ACME's autonomous system number</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ACME1(config)# router bgp 65001</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Define the eBGP neighbour and its remote AS</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ACME1(config-router)# neighbor 1.1.1.1 remote-as 65000</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Advertise the local LAN prefix into BGP</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ACME1(config-router)# network 192.168.0.0 mask 255.255.255.0</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Disable auto-summary so classful summarisation does not surprise you</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ACME1(config-router)# no auto-summary</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eBGP between directly connected neighbours, including best path selection and neighbour relationships (ENCOR 3.2.c).</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and Verify eBGP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ip bgp summary' shows both neighbours Established with a non-zero prefix count, 'show ip bgp' marks the best path with &gt;, and after the local preference change the best-path marker moves to the preferred provider's route.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a Basic WLAN and WPA2-Enterprise on the WLC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AP discovery and join, wireless segmentation with groups, profiles and tags, and configure wireless security features (ENCOR 3.3.c, 3.3.f, 5.4).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office is deploying its first controller-based wireless network. As the wireless engineer you build the WLC configuration end to end through the GUI: interfaces and VLANs, a PSK guest WLAN, then a WPA2-Enterprise corporate WLAN backed by RADIUS. You watch the AP complete its CAPWAP discovery and join, and confirm clients land in the right VLAN.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WLC with a management interface on 192.168.200.254, a joined LAP, a PSK guest WLAN and a WPA2-Enterprise corporate WLAN authenticating against the RADIUS server at 172.31.1.254.</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WLC-1 GUI, LAP-1, R1, SW1, RADIUS server, wireless hosts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LAP shows as joined and associated in Wireless &gt; All APs, both WLANs appear enabled in the WLAN list, the guest client receives a 192.168.5.x address, and the corporate client authenticates against RADIUS and appears under Monitor &gt; Clients.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lab-19-wlc-wlan/lab-19-wlc-wlan.pkt and browse to the WLC at https://192.168.200.254 from the Admin PC</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Log in to the WLC GUI and review the Monitor summary page</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Under Controller &gt; Interfaces, create the VLAN 5 dynamic interface for wireless clients</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Set the interface IP as 192.168.5.254/24 with gateway 192.168.5.1 and the DHCP server address</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Confirm the AP has completed CAPWAP discovery and joined under Wireless &gt; All APs</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AP discovery and join, wireless segmentation with groups, profiles and tags, and configure wireless security features (ENCOR 3.3.c, 3.3.f, 5.4).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a Basic WLAN and WPA2-Enterprise on the WLC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LAP shows as joined and associated in Wireless &gt; All APs, both WLANs appear enabled in the WLAN list, the guest client receives a 192.168.5.x address, and the corporate client authenticates against RADIUS and appears under Monitor &gt; Clients.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WLAN and Wireless Client Connectivity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Troubleshoot WLAN configuration and wireless client connectivity issues using GUI only (ENCOR 3.3.e).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Three separate wireless complaints arrive the same morning: one user cannot see the SSID, one associates but gets no IP address, and one authenticates but cannot reach the internal server. As the wireless support engineer you must resolve all three using the WLC GUI only — no CLI — which is exactly how the exam frames this objective.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resolved wireless faults with a documented root cause for each: a disabled/misbroadcast WLAN, a wrong interface-to-VLAN mapping, and a RADIUS shared-secret mismatch.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WLC-1 GUI, LAP-1, RADIUS server, Laptop1 and Laptop2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three clients reach a working state: the SSID is visible and broadcast, the DHCP client holds an address in the correct VLAN, the 802.1X client authenticates, and troubleshooting-log.csv names a distinct root cause for each fault.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lab-20-wlan-troubleshoot/lab-20-wlan-troubleshoot.pkt and log in to the WLC GUI as the admin</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Fault 1: the user cannot see the SSID — check whether the WLAN is enabled under WLANs</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Check the Broadcast SSID setting on the WLAN's Advanced tab</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Confirm the WLAN is applied to the AP group or policy tag serving that AP</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Enable the WLAN and its SSID broadcast, then confirm the client can see it</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Troubleshoot WLAN configuration and wireless client connectivity issues using GUI only (ENCOR 3.3.e).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WLAN and Wireless Client Connectivity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three clients reach a working state: the SSID is visible and broadcast, the DHCP client holds an address in the correct VLAN, the 802.1X client authenticates, and troubleshooting-log.csv names a distinct root cause for each fault.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NTP, NAT/PAT and HSRP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Interpret NTP configurations, configure NAT/PAT, and configure first hop redundancy protocols such as HSRP and VRRP (ENCOR 3.4.a, 3.4.b, 3.4.c).</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branch office needs three IP services before it goes live: synchronised time so logs correlate, PAT so its private hosts reach the internet through one public address, and a redundant default gateway so a router failure does not black-hole the LAN. As the branch engineer you configure all three and prove the HSRP failover actually works.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branch router synchronised to an NTP master, PAT translating 192.168.10.0/24 out one public address, and an HSRP group with virtual IP 192.168.1.254 that fails over on preemption.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S1/S3 switches, PC-A and PC-B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ntp status' reports the clock is synchronised, 'show ip nat translations' lists inside-local to inside-global entries with differing ports, and 'show standby brief' shows R1 Active / R3 Standby — with R3 becoming Active and PC-A's ping continuing when R1's interface is shut.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lab-21-ip-services/lab-21-ip-services.pkt and review the three service requirements</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Configure R1 as the NTP master at stratum 3</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R1(config)# ntp master 3</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Point R2 at R1 as its NTP server</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R2(config)# ntp server 209.165.200.226</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Verify the clock synchronised and note the stratum</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R2# show ntp status</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Check the association and confirm the * marks the synchronised peer</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R2# show ntp associations</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Interpret NTP configurations, configure NAT/PAT, and configure first hop redundancy protocols such as HSRP and VRRP (ENCOR 3.4.a, 3.4.b, 3.4.c).</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NTP, NAT/PAT and HSRP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ntp status' reports the clock is synchronised, 'show ip nat translations' lists inside-local to inside-global entries with differing ports, and 'show standby brief' shows R1 Active / R3 Standby — with R3 becoming Active and PC-A's ping continuing when R1's interface is shut.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Infrastructure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Troubleshoot static and dynamic 802.1q trunking protocols (ENCOR 3.1.a).</a:t>
            </a:r>
          </a:p>
          <a:p>
            <a:pPr>
              <a:spcAft>
                <a:spcPts val="1000"/>
              </a:spcAft>
            </a:pPr>
            <a:r>
              <a:rPr sz="1500" b="0">
                <a:solidFill>
                  <a:srgbClr val="161B26"/>
                </a:solidFill>
                <a:latin typeface="Arial"/>
              </a:rPr>
              <a:t>•  You can now: Troubleshoot static and dynamic EtherChannels — PAgP and LACP (ENCOR 3.1.b).</a:t>
            </a:r>
          </a:p>
          <a:p>
            <a:pPr>
              <a:spcAft>
                <a:spcPts val="1000"/>
              </a:spcAft>
            </a:pPr>
            <a:r>
              <a:rPr sz="1500" b="0">
                <a:solidFill>
                  <a:srgbClr val="161B26"/>
                </a:solidFill>
                <a:latin typeface="Arial"/>
              </a:rPr>
              <a:t>•  You can now: Configure and verify common Spanning Tree Protocols — RSTP — and Spanning Tree enhancements (ENCOR 3.1.c).</a:t>
            </a:r>
          </a:p>
          <a:p>
            <a:pPr>
              <a:spcAft>
                <a:spcPts val="1000"/>
              </a:spcAft>
            </a:pPr>
            <a:r>
              <a:rPr sz="1500" b="0">
                <a:solidFill>
                  <a:srgbClr val="161B26"/>
                </a:solidFill>
                <a:latin typeface="Arial"/>
              </a:rPr>
              <a:t>•  You can now: Configure and verify common Spanning Tree Protocols — MST (ENCOR 3.1.c).</a:t>
            </a:r>
          </a:p>
          <a:p>
            <a:pPr>
              <a:spcAft>
                <a:spcPts val="1000"/>
              </a:spcAft>
            </a:pPr>
            <a:r>
              <a:rPr sz="1500" b="0">
                <a:solidFill>
                  <a:srgbClr val="161B26"/>
                </a:solidFill>
                <a:latin typeface="Arial"/>
              </a:rPr>
              <a:t>•  You can now: Configure and verify Spanning Tree enhancements such as root guard and BPDU guard (ENCOR 3.1.c).</a:t>
            </a:r>
          </a:p>
          <a:p>
            <a:pPr>
              <a:spcAft>
                <a:spcPts val="1000"/>
              </a:spcAft>
            </a:pPr>
            <a:r>
              <a:rPr sz="1500" b="0">
                <a:solidFill>
                  <a:srgbClr val="161B26"/>
                </a:solidFill>
                <a:latin typeface="Arial"/>
              </a:rPr>
              <a:t>•  You can now: Compare routing concepts of EIGRP and OSPF — advanced distance vector versus link state, load balancing, path selection, metrics and area types (ENCOR 3.2.a).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Assurance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Diagnostics · NetFlow · SPAN/RSPAN/ERSPAN · IP SLA · DNA Center · NETCONF and RESTCONF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advClick="1">
    <p:push dir="l"/>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04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4.0 Network Assurance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10%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K5, A4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22–25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advClick="1">
    <p:push dir="l"/>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Assurance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Diagnose from the bottom up: ping proves reachability, extended ping proves it from the right source, traceroute locates where the path breaks, and debug shows why — but debug is CPU-expensive and must be scoped.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Conditional debugging ('debug interface', 'debug platform condition') restricts output to one interface, one MAC or one IP so you can safely debug on a production device without drowning the console.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SNMP polls devices for counters and state: v2c is community-string based and sends everything in clear text, while v3 adds authentication and encryption and is the only version acceptable in production.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Syslog messages carry a facility, a severity 0–7 (0 emergency to 7 debugging) and a mnemonic; sending them to a central collector with accurate NTP timestamps is what makes post-incident correlation possible.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Assurance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Flexible NetFlow is built from three parts: a flow record (the key and non-key fields you want), a flow exporter (where to send it), and a flow monitor (which binds them and is applied to an interface).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NetFlow answers 'who is talking to whom, how much and for how long' — it is a summarised conversation record, not a packet capture, so it scales to a whole network where SPAN never could.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SPAN copies traffic from a source port or VLAN to a destination port on the same switch, RSPAN carries the copy across a dedicated VLAN to another switch, and ERSPAN encapsulates it in GRE so it can cross a routed network.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IP SLA generates synthetic probes — ICMP echo, UDP jitter, HTTP — and measures latency, jitter and loss continuously, so you learn the path degraded before the user calls.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Assurance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Tracking an IP SLA operation with an object lets you drive real behaviour from measurement: a static route or an HSRP priority can be withdrawn automatically when the probe fails.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Cisco DNA Center organises work into four workflows — Design (site hierarchy and settings), Policy (SGTs and access), Provision (push to devices) and Assurance (health scores and issues) — and it is API-first, so anything the GUI does can be automated.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NETCONF is an XML-based configuration protocol running over SSH on port 830 with explicit candidate/running datastores and transactional commits, so a partial failure rolls back cleanly.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RESTCONF exposes the same YANG models as HTTPS REST on port 443 using GET, POST, PUT, PATCH and DELETE with JSON or XML — simpler for scripts, but without NETCONF's transactional guarantees.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Assurance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22–23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Diagnose Network Problems with Ping, Traceroute and Conditional Debug</a:t>
            </a:r>
          </a:p>
          <a:p>
            <a:pPr>
              <a:spcAft>
                <a:spcPts val="900"/>
              </a:spcAft>
            </a:pPr>
            <a:r>
              <a:rPr sz="1400" b="0">
                <a:solidFill>
                  <a:srgbClr val="161B26"/>
                </a:solidFill>
                <a:latin typeface="Arial"/>
              </a:rPr>
              <a:t>•  Configure Syslog, SNMP and Flexible NetFlow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24–25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SPAN, RSPAN and IP SLA</a:t>
            </a:r>
          </a:p>
          <a:p>
            <a:pPr>
              <a:spcAft>
                <a:spcPts val="900"/>
              </a:spcAft>
            </a:pPr>
            <a:r>
              <a:rPr sz="1400" b="0">
                <a:solidFill>
                  <a:srgbClr val="161B26"/>
                </a:solidFill>
                <a:latin typeface="Arial"/>
              </a:rPr>
              <a:t>•  Configure NETCONF and RESTCONF and Explore DNA Center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Diagnose Network Problems with Ping, Traceroute and Conditional Debug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network problems using tools such as debugs, conditional debugs, traceroute, ping, SNMP and syslog (ENCOR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user reports the application server is 'sometimes slow and sometimes down'. As the engineer you work the problem methodically from the bottom of the stack up: extended ping from the right source with the right size, traceroute to locate where the path breaks, then a conditional debug scoped to one host so you can safely watch the control plane on a production router.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diagnostic record locating the failure to a specific hop, with an extended ping result set, a traceroute trace and safely-scoped conditional debug output.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PC-A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diagnostic record names the exact hop where the path fails, the sweep identifies the largest packet size that succeeds, and 'undebug all' confirms no debug is left running on the device.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lab-22-diagnostics/lab-22-diagnostics.pkt and confirm the reported symptom from PC-A</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C:\&gt; ping 192.168.3.3</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Run a basic ping from the router to establish reachability</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 ping 192.168.3.3</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Run an extended ping sourced from the LAN interface — the source is what usually matters</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ping 192.168.3.3 source GigabitEthernet0/1</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Test with a large packet and the do-not-fragment bit to expose an MTU problem</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ping 192.168.3.3 size 1500 df-bit</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Sweep a range of packet sizes to find exactly where it breaks</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ping 192.168.3.3 size 1400 repeat 5</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network problems using tools such as debugs, conditional debugs, traceroute, ping, SNMP and syslog (ENCOR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Diagnose Network Problems with Ping, Traceroute and Conditional Debug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diagnostic record names the exact hop where the path fails, the sweep identifies the largest packet size that succeeds, and 'undebug all' confirms no debug is left running on the device.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Syslog, SNMP and Flexible NetFlow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Flexible NetFlow, and use SNMP and syslog for diagnosis (ENCOR 4.1, 4.2).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network has no visibility: when something breaks, nobody can say what changed or who was using the bandwidth. As the engineer you fix that in three layers — syslog to a central collector with accurate timestamps, SNMPv3 for polled state, and Flexible NetFlow to answer who talked to whom, how much and for how long.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router logging to a syslog collector at severity informational, an SNMPv3 user with authentication and encryption, and a Flexible NetFlow monitor applied to an interface producing a populated flow cache.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 routers, syslog server, SNMP server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logging' confirms messages are being sent to 192.168.1.100 at informational severity, 'show snmp user' lists the v3 user with SHA and AES, and 'show flow monitor NETFLOW-MONITOR cache' displays flow entries with source, destination and byte counts.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lab-23-netflow-syslog/lab-23-netflow-syslog.pkt and locate the syslog and SNMP servers</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Ensure the clock is right first — logs without accurate time are almost useless</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ntp server 209.165.200.226</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Turn on millisecond timestamps for both logs and debugs</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service timestamps log datetime msec</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Point syslog at the collector</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logging host 192.168.1.100</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Set the trap severity so you capture informational and above</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logging trap informational</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Flexible NetFlow, and use SNMP and syslog for diagnosis (ENCOR 4.1, 4.2).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Syslog, SNMP and Flexible NetFlow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logging' confirms messages are being sent to 192.168.1.100 at informational severity, 'show snmp user' lists the v3 user with SHA and AES, and 'show flow monitor NETFLOW-MONITOR cache' displays flow entries with source, destination and byte counts.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SPAN, RSPAN and IP SLA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SPAN/RSPAN/ERSPAN and configure and verify IPSLA (ENCOR 4.3, 4.4).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Security has asked for a packet capture of one server's traffic, and the WAN team wants to know when a path degrades before users complain. As the engineer you deliver both: SPAN to mirror the server port to an analyser, RSPAN to carry a copy to an analyser on another switch, and an IP SLA probe with a tracked object that withdraws a static route when the path fails.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local SPAN session mirroring the server port, an RSPAN session across a dedicated VLAN, and an IP SLA ICMP echo operation with a tracked object driving a static route.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S1/S2 switches, R1/R2 routers, analyser PC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monitor session 1' shows an active local SPAN, the RSPAN session appears on both switches using VLAN 199, 'show ip sla statistics' reports successful probes with an RTT, and 'show track 1' reports the object Up with the default route present.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lab-24-span-ipsla/lab-24-span-ipsla.pkt and identify the server port and the analyser port</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Create a local SPAN session with the server port as the source</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S1(config)# monitor session 1 source interface FastEthernet0/1 both</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Set the analyser port as the destination</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S1(config)# monitor session 1 destination interface FastEthernet0/24</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Verify the SPAN session is active and note the source and destination</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 show monitor session 1</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Now build RSPAN — first create the dedicated RSPAN VLAN</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S1(config)# vlan 199</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SPAN/RSPAN/ERSPAN and configure and verify IPSLA (ENCOR 4.3, 4.4).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SPAN, RSPAN and IP SLA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monitor session 1' shows an active local SPAN, the RSPAN session appears on both switches using VLAN 199, 'show ip sla statistics' reports successful probes with an RTT, and 'show track 1' reports the object Up with the default route present.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NETCONF and RESTCONF and Explore DNA Center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NETCONF and RESTCONF, and describe Cisco DNA Center workflows (ENCOR 4.5, 4.6).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team is moving from CLI-by-hand to programmatic configuration. As the automation engineer you enable NETCONF and RESTCONF on the router, retrieve configuration through each, and compare them honestly: NETCONF's transactional datastores against RESTCONF's simpler REST verbs. You then map the four DNA Center workflows onto the tasks your team does manually today.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router with NETCONF-YANG on port 830 and RESTCONF on 443 both enabled and verified, a retrieved interface configuration through each protocol, and a completed DNA Center workflow mapping.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XE CLI, Python 3, curl or Postman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netconf-yang sessions' confirms the service is running, the curl call returns HTTP 200 with a JSON interface list, the Python NETCONF script returns the equivalent XML, and dnac-workflows.csv maps all four DNA Center workflows to real tasks.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lab-25-netconf-restconf/ and confirm the router has an IP-reachable management interface</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Create the privileged user the API will authenticate as</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username apiuser privilege 15 secret Api123!</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Generate the RSA key pair that SSH and HTTPS both require</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crypto key generate rsa modulus 2048</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Enable NETCONF-YANG</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R1(config)# netconf-yang</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Enable the HTTPS server that RESTCONF runs on</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ip http secure-server</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NETCONF and RESTCONF, and describe Cisco DNA Center workflows (ENCOR 4.5, 4.6).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NETCONF and RESTCONF and Explore DNA Center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netconf-yang sessions' confirms the service is running, the curl call returns HTTP 200 with a JSON interface list, the Python NETCONF script returns the equivalent XML, and dnac-workflows.csv maps all four DNA Center workflows to real tasks.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Assurance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Diagnose network problems using tools such as debugs, conditional debugs, traceroute, ping, SNMP and syslog (ENCOR 4.1).</a:t>
            </a:r>
          </a:p>
          <a:p>
            <a:pPr>
              <a:spcAft>
                <a:spcPts val="1000"/>
              </a:spcAft>
            </a:pPr>
            <a:r>
              <a:rPr sz="1500" b="0">
                <a:solidFill>
                  <a:srgbClr val="161B26"/>
                </a:solidFill>
                <a:latin typeface="Arial"/>
              </a:rPr>
              <a:t>•  You can now: Configure and verify Flexible NetFlow, and use SNMP and syslog for diagnosis (ENCOR 4.1, 4.2).</a:t>
            </a:r>
          </a:p>
          <a:p>
            <a:pPr>
              <a:spcAft>
                <a:spcPts val="1000"/>
              </a:spcAft>
            </a:pPr>
            <a:r>
              <a:rPr sz="1500" b="0">
                <a:solidFill>
                  <a:srgbClr val="161B26"/>
                </a:solidFill>
                <a:latin typeface="Arial"/>
              </a:rPr>
              <a:t>•  You can now: Configure SPAN/RSPAN/ERSPAN and configure and verify IPSLA (ENCOR 4.3, 4.4).</a:t>
            </a:r>
          </a:p>
          <a:p>
            <a:pPr>
              <a:spcAft>
                <a:spcPts val="1000"/>
              </a:spcAft>
            </a:pPr>
            <a:r>
              <a:rPr sz="1500" b="0">
                <a:solidFill>
                  <a:srgbClr val="161B26"/>
                </a:solidFill>
                <a:latin typeface="Arial"/>
              </a:rPr>
              <a:t>•  You can now: Configure and verify NETCONF and RESTCONF, and describe Cisco DNA Center workflows (ENCOR 4.5, 4.6).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Device access control · AAA · ACLs and CoPP · REST API security · wireless security · security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advClick="1">
    <p:push dir="l"/>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05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5.0 Security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20%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K4, A6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26–30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Device access control starts with the lines: console, VTY and AUX each need a password and a login method, and 'transport input ssh' plus 'no ip http server' removes the plaintext paths.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Local user authentication with 'username … secret' stores a strong hash (type 8/9 scrypt where supported), whereas 'password' stores a trivially reversible type 7 — never use type 7 for anything that matters.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AAA separates Authentication (who are you), Authorization (what may you do) and Accounting (what did you do) — and 'aaa authentication login default group tacacs+ local' keeps a local fallback so a server outage does not lock you out.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TACACS+ encrypts the whole payload, uses TCP 49 and separates authentication from authorization, which is why it is preferred for device administration; RADIUS uses UDP, encrypts only the password, and is the standard for network access (802.1X).</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standard ACL matches source address only and belongs close to the destination; an extended ACL matches source, destination, protocol and port and belongs close to the source so unwanted traffic is dropped early.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Every ACL ends in an implicit 'deny any' — an ACL with only permit statements for your management subnet will silently drop everything else, which is the single most common cause of a self-inflicted lockout.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Control Plane Policing protects the CPU by applying a QoS policy to the control plane itself, rate-limiting management and routing traffic so a flood of ICMP or SNMP cannot starve the device of the CPU it needs to keep routing.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REST API security rests on transport (always HTTPS/TLS), authentication (tokens or OAuth 2.0 rather than embedded credentials), authorization scope, rate limiting, and input validation — and tokens must never be committed to a repository.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Security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802.1X is a three-party conversation: the supplicant (client), the authenticator (switch or WLC) and the authentication server (RADIUS/ISE); EAPOL carries EAP between supplicant and authenticator, RADIUS carries it onward.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WPA2/WPA3 personal uses a pre-shared key, enterprise uses 802.1X; either way the 4-way handshake derives fresh session keys (PTK/GTK) from the PMK, and it is what proves both sides hold the key without ever sending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WebAuth intercepts the first HTTP request and presents a captive portal — right for guest access, wrong for anything that needs strong identity, and useless for headless devices.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MAB (MAC Authentication Bypass) authenticates a device by its MAC address for printers and IP cameras that cannot run a supplicant — it is weak, because a MAC is trivially spoofed, so it is paired with profiling.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Security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300" b="0">
                <a:solidFill>
                  <a:srgbClr val="161B26"/>
                </a:solidFill>
                <a:latin typeface="Arial"/>
              </a:rPr>
              <a:t>Network security design layers threat defence (IPS/NGIPS), endpoint security (AMP), a next-generation firewall (application-aware, identity-aware), and segmentation with TrustSec SGTs and MACsec link encryption.</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300" b="0">
                <a:solidFill>
                  <a:srgbClr val="161B26"/>
                </a:solidFill>
                <a:latin typeface="Arial"/>
              </a:rPr>
              <a:t>TrustSec tags traffic with a Security Group Tag at ingress and enforces it as an SGACL at egress, so policy follows identity rather than IP address — which is what makes policy survive DHCP and mobility.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ENCOR 5.1.b · AUTHENTICATION AND AUTHORIZATION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AAA and 802.1X — Who Talks to Whom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aa-flow.png"/>
          <p:cNvPicPr>
            <a:picLocks noChangeAspect="1"/>
          </p:cNvPicPr>
          <p:nvPr/>
        </p:nvPicPr>
        <p:blipFill>
          <a:blip r:embed="rId2"/>
          <a:stretch>
            <a:fillRect/>
          </a:stretch>
        </p:blipFill>
        <p:spPr>
          <a:xfrm>
            <a:off x="2792577" y="1783080"/>
            <a:ext cx="6606540" cy="3886200"/>
          </a:xfrm>
          <a:prstGeom prst="rect">
            <a:avLst/>
          </a:prstGeom>
        </p:spPr>
      </p:pic>
      <p:sp>
        <p:nvSpPr>
          <p:cNvPr id="8" name="Rectangle 7"/>
          <p:cNvSpPr/>
          <p:nvPr/>
        </p:nvSpPr>
        <p:spPr>
          <a:xfrm>
            <a:off x="777240" y="57790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779008"/>
            <a:ext cx="10149840" cy="658368"/>
          </a:xfrm>
          <a:prstGeom prst="rect">
            <a:avLst/>
          </a:prstGeom>
          <a:noFill/>
        </p:spPr>
        <p:txBody>
          <a:bodyPr wrap="square" anchor="ctr">
            <a:spAutoFit/>
          </a:bodyPr>
          <a:lstStyle/>
          <a:p>
            <a:pPr algn="l">
              <a:spcAft>
                <a:spcPts val="400"/>
              </a:spcAft>
            </a:pPr>
            <a:r>
              <a:rPr sz="1300" b="0">
                <a:solidFill>
                  <a:srgbClr val="161B26"/>
                </a:solidFill>
                <a:latin typeface="Arial"/>
              </a:rPr>
              <a:t>EAPOL runs between supplicant and authenticator; RADIUS carries it onward. Always create the local fallback user BEFORE 'aaa new-model'.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26–27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Secure Device Access with SSH and Strong Passwords</a:t>
            </a:r>
          </a:p>
          <a:p>
            <a:pPr>
              <a:spcAft>
                <a:spcPts val="900"/>
              </a:spcAft>
            </a:pPr>
            <a:r>
              <a:rPr sz="1400" b="0">
                <a:solidFill>
                  <a:srgbClr val="161B26"/>
                </a:solidFill>
                <a:latin typeface="Arial"/>
              </a:rPr>
              <a:t>•  Implement Local and Server-Based AAA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28–29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Extended ACLs to Mitigate Attacks</a:t>
            </a:r>
          </a:p>
          <a:p>
            <a:pPr>
              <a:spcAft>
                <a:spcPts val="900"/>
              </a:spcAft>
            </a:pPr>
            <a:r>
              <a:rPr sz="1400" b="0">
                <a:solidFill>
                  <a:srgbClr val="161B26"/>
                </a:solidFill>
                <a:latin typeface="Arial"/>
              </a:rPr>
              <a:t>•  Configure Control Plane Policing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Wireless Security, REST API Security and Security Design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Secure Device Access with SSH and Strong Passwords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device access control — lines and local user authentication (ENCOR 5.1.a).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audit found the branch routers reachable by Telnet with a type 7 password that anyone can decode in seconds. As the engineer you harden device access: strong hashed local credentials, SSH version 2 only, Telnet removed from the VTY lines, an exec timeout, and login blocking so brute force attempts are throttled.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router and switch reachable only by SSHv2 with type 9 hashed local credentials, Telnet disabled, an exec timeout set and login-attempt throttling armed.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RTA router, SW1 switch, PCA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ip ssh' reports SSH Enabled version 2.0, Telnet from PCA is refused, SSH with the netadmin account succeeds, and 'show running-config | include username' shows a strong hash rather than a type 7 password.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lab-26-secure-access/lab-26-secure-access.pkt and confirm Telnet currently works from PCA</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C:\&gt; telnet 172.16.1.1</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Set the enable secret so the privileged password is hashed, not stored in the clear</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RTA(config)# enable secret Str0ngEn@ble!</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Create a local user with a strong hash rather than a type 7 password</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RTA(config)# username netadmin privilege 15 algorithm-type scrypt secret Adm1n!Pass</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Encrypt any remaining plaintext passwords in the configuration</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RTA(config)# service password-encryption</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Enforce a minimum password length</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RTA(config)# security passwords min-length 10</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device access control — lines and local user authentication (ENCOR 5.1.a).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Configure Secure Device Access with SSH and Strong Passwords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ip ssh' reports SSH Enabled version 2.0, Telnet from PCA is refused, SSH with the netadmin account succeeds, and 'show running-config | include username' shows a strong hash rather than a type 7 password.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Implement Local and Server-Based AAA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device access control — authentication and authorization using AAA (ENCOR 5.1.b).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Managing local accounts on 200 devices does not scale, and when an administrator leaves nobody can be sure every account is gone. As the engineer you centralise authentication on TACACS+ and RADIUS with AAA — and you deliberately keep a local fallback, because the classic AAA disaster is locking the whole team out when the server is unreachable.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Routers authenticating administrators against TACACS+ (192.168.2.2) and RADIUS (192.168.3.2) with a working local fallback, plus authorization and accounting enabled.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TACACS+ server, RADIUS server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'test aaa group tacacs+' returns a successful authentication, 'show tacacs' shows the server reachable, and with the server link shut you can still log in with the local admin account — proving the fallback works.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lab-27-aaa/lab-27-aaa.pkt and note the TACACS+ server at 192.168.2.2 and RADIUS at 192.168.3.2</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Create the local fallback account BEFORE you enable AAA — this is what saves you</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username admin privilege 15 secret Adm1n!Pass</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Enable the AAA subsystem</a:t>
            </a:r>
          </a:p>
        </p:txBody>
      </p:sp>
      <p:sp>
        <p:nvSpPr>
          <p:cNvPr id="25" name="TextBox 24"/>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R1(config)# aaa new-model</a:t>
            </a:r>
          </a:p>
        </p:txBody>
      </p:sp>
      <p:cxnSp>
        <p:nvCxnSpPr>
          <p:cNvPr id="26" name="Connector 25"/>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Define the TACACS+ server</a:t>
            </a:r>
          </a:p>
        </p:txBody>
      </p:sp>
      <p:sp>
        <p:nvSpPr>
          <p:cNvPr id="32" name="TextBox 31"/>
          <p:cNvSpPr txBox="1"/>
          <p:nvPr/>
        </p:nvSpPr>
        <p:spPr>
          <a:xfrm>
            <a:off x="7452360"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tacacs server TAC-SRV</a:t>
            </a:r>
          </a:p>
        </p:txBody>
      </p:sp>
      <p:cxnSp>
        <p:nvCxnSpPr>
          <p:cNvPr id="33" name="Connector 32"/>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Set its address</a:t>
            </a:r>
          </a:p>
        </p:txBody>
      </p:sp>
      <p:sp>
        <p:nvSpPr>
          <p:cNvPr id="39" name="TextBox 38"/>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R1(config-server-tacacs)# address ipv4 192.168.2.2</a:t>
            </a:r>
          </a:p>
        </p:txBody>
      </p:sp>
      <p:sp>
        <p:nvSpPr>
          <p:cNvPr id="40" name="Rectangle 39"/>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3" name="TextBox 42"/>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device access control — authentication and authorization using AAA (ENCOR 5.1.b).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Implement Local and Server-Based AAA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'test aaa group tacacs+' returns a successful authentication, 'show tacacs' shows the server reachable, and with the server link shut you can still log in with the local admin account — proving the fallback works.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Extended ACLs to Mitigate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infrastructure security features — ACLs (ENCOR 5.2.a).</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security team wants the branch to permit only what the business needs and to block the traffic patterns behind the last incident: spoofed private source addresses arriving from the internet and unsolicited inbound ICMP. As the engineer you write named extended ACLs, place them correctly, and confirm the implicit deny is not silently dropping something you needed.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Named extended ACLs permitting only required services, blocking spoofed RFC 1918 sources inbound and unsolicited ICMP, applied in the correct direction with verified hit counters.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R1/R2/R3 routers, PC-A, PC-C, servers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access-lists INTERNET-IN' shows the entries in the intended order with match counters incrementing on the permit lines, spoofed private-source traffic is denied, permitted HTTP/HTTPS still reaches the server, and the logged deny shows what the implicit deny would have dropped.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lab-28-acls/lab-28-acls.pkt and confirm PC1 can currently reach every service on the server</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C:\&gt; ping 172.22.34.62</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Create a named extended ACL for the inbound internet edge</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ip access-list extended INTERNET-IN</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Block spoofed RFC 1918 sources arriving from outside</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R1(config-ext-nacl)# deny ip 10.0.0.0 0.255.255.255 any</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Block the 172.16.0.0/12 private range as a spoofed source</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R1(config-ext-nacl)# deny ip 172.16.0.0 0.15.255.255 any</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Block the 192.168.0.0/16 private range as a spoofed source</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R1(config-ext-nacl)# deny ip 192.168.0.0 0.0.255.255 any</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infrastructure security features — ACLs (ENCOR 5.2.a).</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Extended ACLs to Mitigate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access-lists INTERNET-IN' shows the entries in the intended order with match counters incrementing on the permit lines, spoofed private-source traffic is denied, permitted HTTP/HTTPS still reaches the server, and the logged deny shows what the implicit deny would have dropped.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Control Plane Policing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verify infrastructure security features — CoPP (ENCOR 5.2.b).</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During the last incident a flood of ICMP and SNMP drove the router CPU to 99% and OSPF adjacencies dropped — the device stopped routing because it was too busy answering management traffic. As the engineer you build a CoPP policy that rate-limits management and ICMP traffic to the control plane while guaranteeing routing protocol traffic always gets through.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CoPP policy applied to the control plane with separate classes for routing, management and ICMP, each policed at an appropriate rate, with verified conform and exceed counters.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R1/R2 routers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policy-map control-plane' shows the three classes with conformed bytes on all of them and exceeded/dropped bytes on the ICMP class during the flood, while 'show ip ospf neighbor' confirms the adjacency never dropped.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Open lab-29-copp/lab-29-copp.pkt and baseline the CPU utilisation</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show processes cpu sorted | include CPU</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Create an ACL matching routing protocol traffic that must never be dropped</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access-list 120 permit ospf any any</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Add EIGRP and BGP to the same critical ACL</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access-list 120 permit tcp any any eq 179</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Create an ACL matching management traffic</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access-list 121 permit tcp any any eq 22</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Add SNMP to the management ACL</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 access-list 121 permit udp any any eq 161</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verify infrastructure security features — CoPP (ENCOR 5.2.b).</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Control Plane Policing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policy-map control-plane' shows the three classes with conformed bytes on all of them and exceeded/dropped bytes on the ICMP class during the flood, while 'show ip ospf neighbor' confirms the adjacency never dropped.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Analyse Wireless Security, REST API Security and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REST API security, configure wireless security features, and describe the components of network security design (ENCOR 5.3, 5.4, 5.5).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are reviewing three security designs before sign-off: the wireless authentication model for a new floor, the API integration a vendor has proposed, and the overall segmentation design. As the engineer you evaluate each against the exam's criteria — walking the 802.1X and 4-way handshake exchanges, finding the flaws in the vendor's API design, and placing each defence layer.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wireless authentication comparison, an annotated 4-way handshake walkthrough, a REST API security review naming every flaw in the vendor proposal, and a layered security design map.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WLC GUI, Postman or curl, security review worksheets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wireless comparison recommends 802.1X for corporate, PSK or WebAuth for guest and MAB with profiling for headless devices; your 4-way handshake walkthrough has all four messages in order; and api-security-review.csv names the HTTP transport, the embedded credentials and the absent rate limiting as flaws with concrete fixes.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Open lab-30-security-design/ and read the three review packs provided</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Compare the wireless authentication methods in wireless-security.csv — PSK, 802.1X, WebAuth and MAB</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three 802.1X roles: supplicant, authenticator and authentication server</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Note that EAPOL carries EAP between supplicant and authenticator, and RADIUS carries it onward</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Walk the 4-way handshake: the AP sends ANonce, the client replies with SNonce and a MIC</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REST API security, configure wireless security features, and describe the components of network security design (ENCOR 5.3, 5.4, 5.5).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Analyse Wireless Security, REST API Security and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wireless comparison recommends 802.1X for corporate, PSK or WebAuth for guest and MAB with profiling for headless devices; your 4-way handshake walkthrough has all four messages in order; and api-security-review.csv names the HTTP transport, the embedded credentials and the absent rate limiting as flaws with concrete fixes.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Configure and verify device access control — lines and local user authentication (ENCOR 5.1.a).</a:t>
            </a:r>
          </a:p>
          <a:p>
            <a:pPr>
              <a:spcAft>
                <a:spcPts val="1000"/>
              </a:spcAft>
            </a:pPr>
            <a:r>
              <a:rPr sz="1500" b="0">
                <a:solidFill>
                  <a:srgbClr val="161B26"/>
                </a:solidFill>
                <a:latin typeface="Arial"/>
              </a:rPr>
              <a:t>•  You can now: Configure and verify device access control — authentication and authorization using AAA (ENCOR 5.1.b).</a:t>
            </a:r>
          </a:p>
          <a:p>
            <a:pPr>
              <a:spcAft>
                <a:spcPts val="1000"/>
              </a:spcAft>
            </a:pPr>
            <a:r>
              <a:rPr sz="1500" b="0">
                <a:solidFill>
                  <a:srgbClr val="161B26"/>
                </a:solidFill>
                <a:latin typeface="Arial"/>
              </a:rPr>
              <a:t>•  You can now: Configure and verify infrastructure security features — ACLs (ENCOR 5.2.a).</a:t>
            </a:r>
          </a:p>
          <a:p>
            <a:pPr>
              <a:spcAft>
                <a:spcPts val="1000"/>
              </a:spcAft>
            </a:pPr>
            <a:r>
              <a:rPr sz="1500" b="0">
                <a:solidFill>
                  <a:srgbClr val="161B26"/>
                </a:solidFill>
                <a:latin typeface="Arial"/>
              </a:rPr>
              <a:t>•  You can now: Configure and verify infrastructure security features — CoPP (ENCOR 5.2.b).</a:t>
            </a:r>
          </a:p>
          <a:p>
            <a:pPr>
              <a:spcAft>
                <a:spcPts val="1000"/>
              </a:spcAft>
            </a:pPr>
            <a:r>
              <a:rPr sz="1500" b="0">
                <a:solidFill>
                  <a:srgbClr val="161B26"/>
                </a:solidFill>
                <a:latin typeface="Arial"/>
              </a:rPr>
              <a:t>•  You can now: Describe REST API security, configure wireless security features, and describe the components of network security design (ENCOR 5.3, 5.4, 5.5).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Python · JSON · YANG · DNA Center and vManage APIs · REST responses · EEM · orchestration tools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advClick="1">
    <p:push dir="l"/>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06 — What This Domain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domain</a:t>
            </a:r>
          </a:p>
          <a:p>
            <a:pPr algn="l">
              <a:spcAft>
                <a:spcPts val="300"/>
              </a:spcAft>
            </a:pPr>
            <a:r>
              <a:rPr sz="1300" b="0">
                <a:solidFill>
                  <a:srgbClr val="5B6372"/>
                </a:solidFill>
                <a:latin typeface="Arial"/>
              </a:rPr>
              <a:t>ENCOR domain 6.0 Automation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Exam weighting</a:t>
            </a:r>
          </a:p>
          <a:p>
            <a:pPr algn="l">
              <a:spcAft>
                <a:spcPts val="300"/>
              </a:spcAft>
            </a:pPr>
            <a:r>
              <a:rPr sz="1300" b="0">
                <a:solidFill>
                  <a:srgbClr val="5B6372"/>
                </a:solidFill>
                <a:latin typeface="Arial"/>
              </a:rPr>
              <a:t>15% of the ENCOR 350-401 exam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mapping</a:t>
            </a:r>
          </a:p>
          <a:p>
            <a:pPr algn="l">
              <a:spcAft>
                <a:spcPts val="300"/>
              </a:spcAft>
            </a:pPr>
            <a:r>
              <a:rPr sz="1300" b="0">
                <a:solidFill>
                  <a:srgbClr val="5B6372"/>
                </a:solidFill>
                <a:latin typeface="Arial"/>
              </a:rPr>
              <a:t>Skills Framework K6, A5 · Network Configuration (ICT-DIT-3009-1.1)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Hands-on labs</a:t>
            </a:r>
          </a:p>
          <a:p>
            <a:pPr algn="l">
              <a:spcAft>
                <a:spcPts val="300"/>
              </a:spcAft>
            </a:pPr>
            <a:r>
              <a:rPr sz="1300" b="0">
                <a:solidFill>
                  <a:srgbClr val="5B6372"/>
                </a:solidFill>
                <a:latin typeface="Arial"/>
              </a:rPr>
              <a:t>Labs 31–35 — every objective has a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ENCOR exam asks you to interpret Python, not to write an application: you must read a script and predict its output, so lists, dictionaries, loops, conditionals, functions and the requests library are the working set.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Python dictionary maps keys to values and is exactly how a parsed JSON object arrives — nested API responses are therefore navigated with chained keys and indexes such as response['response'][0]['hostname'].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JSON has six value types — string, number, boolean, null, array and object — with keys always in double quotes, no trailing commas and no comments; a single trailing comma is the most common invalid-JSON exam trap.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YANG is a data modelling language that defines the structure, types and constraints of configuration and operational data; NETCONF and RESTCONF are the protocols that carry data conforming to those models.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Automation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YANG model is a tree of containers, lists, leaves and leaf-lists — a container groups, a list has a key and repeats, a leaf holds one typed value — and the same model drives both NETCONF XML and RESTCONF JSON.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Cisco DNA Center Intent API is token-based: POST to /dna/system/api/v1/auth/token with Basic auth to receive an X-Auth-Token, then send that token in the header of every subsequent call.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vManage API authenticates with a session cookie from /j_security_check plus an XSRF token for write operations, and exposes device inventory, statistics and policy over /dataservice endpoints.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REST response codes group by class: 2xx succeeded (200 OK, 201 Created, 204 No Content), 4xx you made an error (400 bad request, 401 unauthenticated, 403 unauthorised, 404 not found, 429 rate-limited), and 5xx the server failed.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Automation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401 means the token is missing, wrong or expired, while a 403 means the token is valid but the account lacks permission — reading that difference correctly is the fastest way to fix a failing API script.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EEM (Embedded Event Manager) runs on the device itself: an event detector (syslog, SNMP, interface, timer, CLI) triggers an applet whose actions run CLI commands, write logs, send mail or set variables — automation with no external server.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An EEM applet needs 'event manager applet NAME', one event statement, and numbered action statements which run in lexical order — so 1.0, 2.0, 3.0 is the safe numbering convention, not 1, 2, 10.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Agent-based tools (Puppet, Chef) install software on the managed node and pull the desired state on a schedule; agentless tools (Ansible, SaltStack in agentless mode) push over SSH or an API and are far easier to adopt on network devices that cannot run an agent.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 Automation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300" b="0">
                <a:solidFill>
                  <a:srgbClr val="161B26"/>
                </a:solidFill>
                <a:latin typeface="Arial"/>
              </a:rPr>
              <a:t>Ansible is declarative and idempotent: a playbook describes the desired end state, and running it twice makes no second change — which is what makes it safe to re-run against production.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31–32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Interpret Python Components and Scripts</a:t>
            </a:r>
          </a:p>
          <a:p>
            <a:pPr>
              <a:spcAft>
                <a:spcPts val="900"/>
              </a:spcAft>
            </a:pPr>
            <a:r>
              <a:rPr sz="1400" b="0">
                <a:solidFill>
                  <a:srgbClr val="161B26"/>
                </a:solidFill>
                <a:latin typeface="Arial"/>
              </a:rPr>
              <a:t>•  Construct and Validate JSON-Encoded Files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33–34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Explore YANG Models and Call the DNA Center API</a:t>
            </a:r>
          </a:p>
          <a:p>
            <a:pPr>
              <a:spcAft>
                <a:spcPts val="900"/>
              </a:spcAft>
            </a:pPr>
            <a:r>
              <a:rPr sz="1400" b="0">
                <a:solidFill>
                  <a:srgbClr val="161B26"/>
                </a:solidFill>
                <a:latin typeface="Arial"/>
              </a:rPr>
              <a:t>•  Construct an EEM Applet to Automate Response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Agent and Agentless Orchestration Tools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Interpret Python Components and Scripts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Interpret basic Python components and scripts (ENCOR 6.1).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ENCOR exam does not ask you to write an application — it shows you a script and asks what it prints. As the network engineer moving into automation, you work through the Python that actually appears in network scripts: lists and dictionaries holding device inventories, loops that iterate them, conditionals that branch on state, and functions that return values.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set of correctly predicted script outputs, a working device-inventory script that loops a list of dictionaries, and a written explanation of the one deliberate bug you fix.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Python 3.10+, VS Code or any editor, devices.py sample scripts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written predictions match the actual output of every script, inventory_report.py runs without error and prints one line per device, and buggy.py runs correctly after your fix with a comment explaining the indentation error.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Open lab-31-python/ and read devices.py before running anything</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Predict the output of the first script on paper, then run it and compare</a:t>
            </a:r>
          </a:p>
        </p:txBody>
      </p:sp>
      <p:sp>
        <p:nvSpPr>
          <p:cNvPr id="18" name="TextBox 17"/>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python3 predict_01.py</a:t>
            </a:r>
          </a:p>
        </p:txBody>
      </p:sp>
      <p:cxnSp>
        <p:nvCxnSpPr>
          <p:cNvPr id="19" name="Connector 18"/>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Examine the list of device dictionaries that models the inventory</a:t>
            </a:r>
          </a:p>
        </p:txBody>
      </p:sp>
      <p:cxnSp>
        <p:nvCxnSpPr>
          <p:cNvPr id="25" name="Connector 24"/>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0" name="TextBox 29"/>
          <p:cNvSpPr txBox="1"/>
          <p:nvPr/>
        </p:nvSpPr>
        <p:spPr>
          <a:xfrm>
            <a:off x="7479792"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Access a single value by its key and print it</a:t>
            </a:r>
          </a:p>
        </p:txBody>
      </p:sp>
      <p:sp>
        <p:nvSpPr>
          <p:cNvPr id="31" name="TextBox 30"/>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python3 -c "d={'host':'R1','ip':'10.1.1.1'}; print(d['ip'])"</a:t>
            </a:r>
          </a:p>
        </p:txBody>
      </p:sp>
      <p:cxnSp>
        <p:nvCxnSpPr>
          <p:cNvPr id="32" name="Connector 31"/>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7" name="TextBox 36"/>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Loop the inventory and print each device's hostname and IP</a:t>
            </a:r>
          </a:p>
        </p:txBody>
      </p:sp>
      <p:sp>
        <p:nvSpPr>
          <p:cNvPr id="38" name="TextBox 37"/>
          <p:cNvSpPr txBox="1"/>
          <p:nvPr/>
        </p:nvSpPr>
        <p:spPr>
          <a:xfrm>
            <a:off x="9656064"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python3 loop_inventory.py</a:t>
            </a:r>
          </a:p>
        </p:txBody>
      </p:sp>
      <p:sp>
        <p:nvSpPr>
          <p:cNvPr id="39" name="Rectangle 38"/>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2" name="TextBox 41"/>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Interpret basic Python components and scripts (ENCOR 6.1).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00"/>
                                        <p:tgtEl>
                                          <p:spTgt spid="26"/>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Interpret Python Components and Scripts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written predictions match the actual output of every script, inventory_report.py runs without error and prints one line per device, and buggy.py runs correctly after your fix with a comment explaining the indentation error.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 and Validate JSON-Encoded 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Construct valid JSON-encoded files (ENCOR 6.2).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Every REST API you will touch speaks JSON, and the exam presents you with JSON that is subtly invalid and asks you to spot why. As the automation engineer you construct a valid device inventory in JSON, deliberately break it in each of the classic ways, and learn to read a parser error back to the exact character that caused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valid nested JSON device inventory that passes validation, a set of four broken variants each demonstrating a different classic error, and a Python script that parses the valid file into a dictionary.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Python 3.10+, a text editor, json module, sample API payloads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devices.json validates cleanly with 'python3 -m json.tool', all four broken variants fail with a parser error you can explain, and your navigation command prints the correct nested interface name.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lab-32-json/ and review the six JSON value types — string, number, boolean, null, array, object</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Write a JSON object describing one device with hostname, IP, uptime and an enabled flag</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Extend it into an array of three device objects</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Nest an interfaces array inside each device to make the structure realistic</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Validate the file with Python's json module</a:t>
            </a:r>
          </a:p>
        </p:txBody>
      </p:sp>
      <p:sp>
        <p:nvSpPr>
          <p:cNvPr id="36" name="TextBox 35"/>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python3 -m json.tool devices.json</a:t>
            </a:r>
          </a:p>
        </p:txBody>
      </p:sp>
      <p:sp>
        <p:nvSpPr>
          <p:cNvPr id="37" name="Rectangle 36"/>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0" name="TextBox 39"/>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Construct valid JSON-encoded files (ENCOR 6.2).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 and Validate JSON-Encoded 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devices.json validates cleanly with 'python3 -m json.tool', all four broken variants fail with a parser error you can explain, and your navigation command prints the correct nested interface name.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YANG Models and Call the DNA Center API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Describe the principles and benefits of YANG, describe APIs for Cisco DNA Center and vManage, and interpret REST API response codes (ENCOR 6.3, 6.4, 6.5).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team is scripting against Cisco DNA Center, and the first attempts are failing with codes nobody can interpret. As the automation engineer you walk the YANG model that defines the data, authenticate correctly to obtain an X-Auth-Token, then work through the response codes deliberately — including the 401 versus 403 distinction that decides whether you fix the token or the account's permissions.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YANG model walkthrough naming containers, lists and leaves, a successful token request, a device inventory retrieved with that token, and a completed response-code interpretation table.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Python 3.10+, requests library, curl or Postman, DNA Center sandbox or provided mock API</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token request returns 200 with a Token value, the authenticated inventory call returns 200 with a device list, the unauthenticated call returns 401, and response-codes.csv correctly distinguishes 401 (fix the token) from 403 (fix the permissions).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lab-33-yang-dnac/ and read the ietf-interfaces YANG model extract provided</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container — the node that groups related data but does not repeat</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list and its key — the node that repeats, one entry per interface</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Identify the leaves and their types — name is a string, enabled is a boolean</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State the benefit: one model drives both NETCONF XML and RESTCONF JSON</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Describe the principles and benefits of YANG, describe APIs for Cisco DNA Center and vManage, and interpret REST API response codes (ENCOR 6.3, 6.4, 6.5).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Explore YANG Models and Call the DNA Center API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token request returns 200 with a Token value, the authenticated inventory call returns 200 with a device list, the unauthenticated call returns 401, and response-codes.csv correctly distinguishes 401 (fix the token) from 403 (fix the permissions).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 an EEM Applet to Automate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Construct an EEM applet to automate configuration, troubleshooting or data collection (ENCOR 6.6).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critical WAN interface flaps at night and nobody captures the state before it recovers, so the cause is never found. As the engineer you make the device investigate itself: an EEM applet that triggers on the syslog message, runs the diagnostic commands, writes the output to a file and logs a summary — automation with no external server involved.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working EEM applets — one syslog-triggered applet that collects diagnostics on an interface down event, and one timed applet that logs a periodic health snapshot.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Cisco Packet Tracer, Cisco IOS CLI, R1 router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'show event manager policy registered' lists both applets, shutting Serial0/0/0 produces the 'EEM: Serial0/0/0 down' syslog entry, and 'show event manager statistics policy' shows a non-zero run count for the triggered applet.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lab-34-eem/lab-34-eem.pkt and confirm you can see the interface down syslog message</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 show logging | include LINEPROTO</a:t>
            </a:r>
          </a:p>
        </p:txBody>
      </p:sp>
      <p:cxnSp>
        <p:nvCxnSpPr>
          <p:cNvPr id="13" name="Connector 12"/>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200" b="1">
                <a:solidFill>
                  <a:srgbClr val="161B26"/>
                </a:solidFill>
                <a:latin typeface="Arial"/>
              </a:rPr>
              <a:t>Create the applet and give it a descriptive name</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R1(config)# event manager applet INTERFACE-DOWN</a:t>
            </a:r>
          </a:p>
        </p:txBody>
      </p:sp>
      <p:cxnSp>
        <p:nvCxnSpPr>
          <p:cNvPr id="20" name="Connector 19"/>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100" b="1">
                <a:solidFill>
                  <a:srgbClr val="161B26"/>
                </a:solidFill>
                <a:latin typeface="Arial"/>
              </a:rPr>
              <a:t>Define the syslog event detector matching the interface down pattern</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R1(config-applet)# event syslog pattern "Interface Serial0/0/0, changed state to down"</a:t>
            </a:r>
          </a:p>
        </p:txBody>
      </p:sp>
      <p:cxnSp>
        <p:nvCxnSpPr>
          <p:cNvPr id="27" name="Connector 26"/>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Add the first action — enter privileged mode, since the applet starts unprivileged</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R1(config-applet)# action 1.0 cli command "enable"</a:t>
            </a:r>
          </a:p>
        </p:txBody>
      </p:sp>
      <p:cxnSp>
        <p:nvCxnSpPr>
          <p:cNvPr id="34" name="Connector 33"/>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Collect the interface state</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700" b="0">
                <a:solidFill>
                  <a:srgbClr val="5B6372"/>
                </a:solidFill>
                <a:latin typeface="Arial"/>
              </a:rPr>
              <a:t>R1(config-applet)# action 2.0 cli command "show interfaces Serial0/0/0"</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Construct an EEM applet to automate configuration, troubleshooting or data collection (ENCOR 6.6).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Construct an EEM Applet to Automate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'show event manager policy registered' lists both applets, shutting Serial0/0/0 produces the 'EEM: Serial0/0/0 down' syslog entry, and 'show event manager statistics policy' shows a non-zero run count for the triggered applet.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Agent and Agentless Orchestration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agent versus agentless orchestration tools such as Chef, Puppet, Ansible and SaltStack (ENCOR 6.7).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Your organisation must pick one configuration management tool for a network of 300 Cisco devices that cannot run third-party agents. As the engineer making the recommendation you compare the four tools on architecture, transport, language and network-device suitability, then write and read a small Ansible playbook to prove the agentless model works on IOS.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four-tool comparison matrix, a written recommendation justified on the agent constraint, and an annotated Ansible playbook that configures an IOS interface idempotently.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Python 3.10+, Ansible, a text editor, tool comparison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orchestration-comparison.csv correctly classifies Puppet and Chef as agent-based pull and Ansible as agentless push, the playbook reports changed=1 on the first run and changed=0 on the second, and your recommendation names Ansible with the no-agent constraint as the reason.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Open lab-35-orchestration/ and read the requirement: 300 IOS devices, no agents permitted</a:t>
            </a:r>
          </a:p>
        </p:txBody>
      </p:sp>
      <p:cxnSp>
        <p:nvCxnSpPr>
          <p:cNvPr id="12" name="Connector 11"/>
          <p:cNvCxnSpPr/>
          <p:nvPr/>
        </p:nvCxnSpPr>
        <p:spPr>
          <a:xfrm>
            <a:off x="2651760"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07308"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72384"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Puppet's architecture — agent-based, pull model, Ruby DSL, master/agent</a:t>
            </a:r>
          </a:p>
        </p:txBody>
      </p:sp>
      <p:cxnSp>
        <p:nvCxnSpPr>
          <p:cNvPr id="18" name="Connector 17"/>
          <p:cNvCxnSpPr/>
          <p:nvPr/>
        </p:nvCxnSpPr>
        <p:spPr>
          <a:xfrm>
            <a:off x="4855464"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84648"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11012"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76088"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Chef's architecture — agent-based, pull model, Ruby recipes and cookbooks</a:t>
            </a:r>
          </a:p>
        </p:txBody>
      </p:sp>
      <p:cxnSp>
        <p:nvCxnSpPr>
          <p:cNvPr id="24" name="Connector 23"/>
          <p:cNvCxnSpPr/>
          <p:nvPr/>
        </p:nvCxnSpPr>
        <p:spPr>
          <a:xfrm>
            <a:off x="7059168"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88352"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14716"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79792"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Ansible's architecture — agentless, push model, YAML playbooks over SSH or API</a:t>
            </a:r>
          </a:p>
        </p:txBody>
      </p:sp>
      <p:cxnSp>
        <p:nvCxnSpPr>
          <p:cNvPr id="30" name="Connector 29"/>
          <p:cNvCxnSpPr/>
          <p:nvPr/>
        </p:nvCxnSpPr>
        <p:spPr>
          <a:xfrm>
            <a:off x="9262872" y="320040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92056" y="201168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18420" y="232257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83496" y="2907792"/>
            <a:ext cx="1636776" cy="1005840"/>
          </a:xfrm>
          <a:prstGeom prst="rect">
            <a:avLst/>
          </a:prstGeom>
          <a:noFill/>
        </p:spPr>
        <p:txBody>
          <a:bodyPr wrap="square" anchor="ctr">
            <a:spAutoFit/>
          </a:bodyPr>
          <a:lstStyle/>
          <a:p>
            <a:pPr algn="ctr">
              <a:spcAft>
                <a:spcPts val="0"/>
              </a:spcAft>
            </a:pPr>
            <a:r>
              <a:rPr sz="1000" b="1">
                <a:solidFill>
                  <a:srgbClr val="161B26"/>
                </a:solidFill>
                <a:latin typeface="Arial"/>
              </a:rPr>
              <a:t>Record SaltStack's architecture — minion-based by default, but supports agentless SSH mode</a:t>
            </a:r>
          </a:p>
        </p:txBody>
      </p:sp>
      <p:sp>
        <p:nvSpPr>
          <p:cNvPr id="36" name="Rectangle 35"/>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626864"/>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39" name="TextBox 38"/>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agent versus agentless orchestration tools such as Chef, Puppet, Ansible and SaltStack (ENCOR 6.7).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Compare Agent and Agentless Orchestration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orchestration-comparison.csv correctly classifies Puppet and Chef as agent-based pull and Ansible as agentless push, the playbook reports changed=1 on the first run and changed=0 on the second, and your recommendation names Ansible with the no-agent constraint as the reason.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Interpret basic Python components and scripts (ENCOR 6.1).</a:t>
            </a:r>
          </a:p>
          <a:p>
            <a:pPr>
              <a:spcAft>
                <a:spcPts val="1000"/>
              </a:spcAft>
            </a:pPr>
            <a:r>
              <a:rPr sz="1500" b="0">
                <a:solidFill>
                  <a:srgbClr val="161B26"/>
                </a:solidFill>
                <a:latin typeface="Arial"/>
              </a:rPr>
              <a:t>•  You can now: Construct valid JSON-encoded files (ENCOR 6.2).</a:t>
            </a:r>
          </a:p>
          <a:p>
            <a:pPr>
              <a:spcAft>
                <a:spcPts val="1000"/>
              </a:spcAft>
            </a:pPr>
            <a:r>
              <a:rPr sz="1500" b="0">
                <a:solidFill>
                  <a:srgbClr val="161B26"/>
                </a:solidFill>
                <a:latin typeface="Arial"/>
              </a:rPr>
              <a:t>•  You can now: Describe the principles and benefits of YANG, describe APIs for Cisco DNA Center and vManage, and interpret REST API response codes (ENCOR 6.3, 6.4, 6.5).</a:t>
            </a:r>
          </a:p>
          <a:p>
            <a:pPr>
              <a:spcAft>
                <a:spcPts val="1000"/>
              </a:spcAft>
            </a:pPr>
            <a:r>
              <a:rPr sz="1500" b="0">
                <a:solidFill>
                  <a:srgbClr val="161B26"/>
                </a:solidFill>
                <a:latin typeface="Arial"/>
              </a:rPr>
              <a:t>•  You can now: Construct an EEM applet to automate configuration, troubleshooting or data collection (ENCOR 6.6).</a:t>
            </a:r>
          </a:p>
          <a:p>
            <a:pPr>
              <a:spcAft>
                <a:spcPts val="1000"/>
              </a:spcAft>
            </a:pPr>
            <a:r>
              <a:rPr sz="1500" b="0">
                <a:solidFill>
                  <a:srgbClr val="161B26"/>
                </a:solidFill>
                <a:latin typeface="Arial"/>
              </a:rPr>
              <a:t>•  You can now: Compare agent versus agentless orchestration tools such as Chef, Puppet, Ansible and SaltStack (ENCOR 6.7).</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advClick="1">
    <p:push dir="l"/>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 · Translated requirements</a:t>
            </a:r>
          </a:p>
          <a:p>
            <a:pPr algn="l">
              <a:spcAft>
                <a:spcPts val="300"/>
              </a:spcAft>
            </a:pPr>
            <a:r>
              <a:rPr sz="1100" b="0">
                <a:solidFill>
                  <a:srgbClr val="5B6372"/>
                </a:solidFill>
                <a:latin typeface="Arial"/>
              </a:rPr>
              <a:t>Turned organisational needs into campus, wireless and WAN designs — 2-tier versus 3-tier, deployment models and QoS policy.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 · Selected components</a:t>
            </a:r>
          </a:p>
          <a:p>
            <a:pPr algn="l">
              <a:spcAft>
                <a:spcPts val="300"/>
              </a:spcAft>
            </a:pPr>
            <a:r>
              <a:rPr sz="1100" b="0">
                <a:solidFill>
                  <a:srgbClr val="5B6372"/>
                </a:solidFill>
                <a:latin typeface="Arial"/>
              </a:rPr>
              <a:t>Chose and configured the right components: VRFs, tunnels, switches, routers, controllers and their interdependencies.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 · Implemented devices</a:t>
            </a:r>
          </a:p>
          <a:p>
            <a:pPr algn="l">
              <a:spcAft>
                <a:spcPts val="300"/>
              </a:spcAft>
            </a:pPr>
            <a:r>
              <a:rPr sz="1100" b="0">
                <a:solidFill>
                  <a:srgbClr val="5B6372"/>
                </a:solidFill>
                <a:latin typeface="Arial"/>
              </a:rPr>
              <a:t>Configured trunking, EtherChannel, RSTP, MST, EIGRP, OSPFv2/v3, eBGP, NAT, HSRP and controller-based wireless.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 · Managed access</a:t>
            </a:r>
          </a:p>
          <a:p>
            <a:pPr algn="l">
              <a:spcAft>
                <a:spcPts val="300"/>
              </a:spcAft>
            </a:pPr>
            <a:r>
              <a:rPr sz="1100" b="0">
                <a:solidFill>
                  <a:srgbClr val="5B6372"/>
                </a:solidFill>
                <a:latin typeface="Arial"/>
              </a:rPr>
              <a:t>Secured device access with SSH and AAA, enforced ACLs and CoPP, and deployed 802.1X and WPA2-Enterprise wireless.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 · Deployed tools</a:t>
            </a:r>
          </a:p>
          <a:p>
            <a:pPr algn="l">
              <a:spcAft>
                <a:spcPts val="300"/>
              </a:spcAft>
            </a:pPr>
            <a:r>
              <a:rPr sz="1100" b="0">
                <a:solidFill>
                  <a:srgbClr val="5B6372"/>
                </a:solidFill>
                <a:latin typeface="Arial"/>
              </a:rPr>
              <a:t>Deployed syslog, SNMPv3, Flexible NetFlow, SPAN/RSPAN, IP SLA, NETCONF and RESTCONF.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LO6 · Reported and assessed</a:t>
            </a:r>
          </a:p>
          <a:p>
            <a:pPr algn="l">
              <a:spcAft>
                <a:spcPts val="300"/>
              </a:spcAft>
            </a:pPr>
            <a:r>
              <a:rPr sz="1100" b="0">
                <a:solidFill>
                  <a:srgbClr val="5B6372"/>
                </a:solidFill>
                <a:latin typeface="Arial"/>
              </a:rPr>
              <a:t>Automated reporting and response with Python, JSON, REST APIs, EEM applets and Ansible.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Path to CCNP Enterprise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Pass ENCOR 350-401</a:t>
            </a:r>
          </a:p>
          <a:p>
            <a:pPr algn="l">
              <a:spcAft>
                <a:spcPts val="300"/>
              </a:spcAft>
            </a:pPr>
            <a:r>
              <a:rPr sz="1200" b="0">
                <a:solidFill>
                  <a:srgbClr val="5B6372"/>
                </a:solidFill>
                <a:latin typeface="Arial"/>
              </a:rPr>
              <a:t>The core exam you have prepared for this week. Passing it alone earns Cisco Certified Specialist – Enterprise Core.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Choose a concentration</a:t>
            </a:r>
          </a:p>
          <a:p>
            <a:pPr algn="l">
              <a:spcAft>
                <a:spcPts val="300"/>
              </a:spcAft>
            </a:pPr>
            <a:r>
              <a:rPr sz="1200" b="0">
                <a:solidFill>
                  <a:srgbClr val="5B6372"/>
                </a:solidFill>
                <a:latin typeface="Arial"/>
              </a:rPr>
              <a:t>CCNP Enterprise = ENCOR plus one concentration exam. ENARSI (advanced routing) is the most common next step.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Practise the pacing</a:t>
            </a:r>
          </a:p>
          <a:p>
            <a:pPr algn="l">
              <a:spcAft>
                <a:spcPts val="300"/>
              </a:spcAft>
            </a:pPr>
            <a:r>
              <a:rPr sz="1200" b="0">
                <a:solidFill>
                  <a:srgbClr val="5B6372"/>
                </a:solidFill>
                <a:latin typeface="Arial"/>
              </a:rPr>
              <a:t>Use the practice exam at exams.tertiaryinfotech.com in Exam mode until 100 questions in 120 minutes feels comfortable.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Rebuild every lab</a:t>
            </a:r>
          </a:p>
          <a:p>
            <a:pPr algn="l">
              <a:spcAft>
                <a:spcPts val="300"/>
              </a:spcAft>
            </a:pPr>
            <a:r>
              <a:rPr sz="1200" b="0">
                <a:solidFill>
                  <a:srgbClr val="5B6372"/>
                </a:solidFill>
                <a:latin typeface="Arial"/>
              </a:rPr>
              <a:t>Redo each of the 35 labs from a blank configuration until the commands come without the guide.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Read the blueprint again</a:t>
            </a:r>
          </a:p>
          <a:p>
            <a:pPr algn="l">
              <a:spcAft>
                <a:spcPts val="300"/>
              </a:spcAft>
            </a:pPr>
            <a:r>
              <a:rPr sz="1200" b="0">
                <a:solidFill>
                  <a:srgbClr val="5B6372"/>
                </a:solidFill>
                <a:latin typeface="Arial"/>
              </a:rPr>
              <a:t>Walk learningnetwork.cisco.com/s/encor-exam-topics objective by objective and rate your confidence on each.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Book the exam</a:t>
            </a:r>
          </a:p>
          <a:p>
            <a:pPr algn="l">
              <a:spcAft>
                <a:spcPts val="300"/>
              </a:spcAft>
            </a:pPr>
            <a:r>
              <a:rPr sz="1200" b="0">
                <a:solidFill>
                  <a:srgbClr val="5B6372"/>
                </a:solidFill>
                <a:latin typeface="Arial"/>
              </a:rPr>
              <a:t>Schedule at a Pearson VUE centre once you are consistently scoring above 85% in Exam mode.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PRACTICE EXAM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Book Your Revision 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a:t>
            </a:r>
          </a:p>
          <a:p>
            <a:pPr algn="l">
              <a:spcAft>
                <a:spcPts val="300"/>
              </a:spcAft>
            </a:pPr>
            <a:r>
              <a:rPr sz="1200" b="0">
                <a:solidFill>
                  <a:srgbClr val="5B6372"/>
                </a:solidFill>
                <a:latin typeface="Arial"/>
              </a:rPr>
              <a:t>exams.tertiaryinfotech.com/practice-exams/cisco/cisco-ccnp-encor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200 original questions across two full 100-question practice exams.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long</a:t>
            </a:r>
          </a:p>
          <a:p>
            <a:pPr algn="l">
              <a:spcAft>
                <a:spcPts val="300"/>
              </a:spcAft>
            </a:pPr>
            <a:r>
              <a:rPr sz="1200" b="0">
                <a:solidFill>
                  <a:srgbClr val="5B6372"/>
                </a:solidFill>
                <a:latin typeface="Arial"/>
              </a:rPr>
              <a:t>120 minutes each — the same as the real 350-401 exam.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mode</a:t>
            </a:r>
          </a:p>
          <a:p>
            <a:pPr algn="l">
              <a:spcAft>
                <a:spcPts val="300"/>
              </a:spcAft>
            </a:pPr>
            <a:r>
              <a:rPr sz="1200" b="0">
                <a:solidFill>
                  <a:srgbClr val="5B6372"/>
                </a:solidFill>
                <a:latin typeface="Arial"/>
              </a:rPr>
              <a:t>Immediate answers and explanations. Use it while the material is still fresh.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 mode</a:t>
            </a:r>
          </a:p>
          <a:p>
            <a:pPr algn="l">
              <a:spcAft>
                <a:spcPts val="300"/>
              </a:spcAft>
            </a:pPr>
            <a:r>
              <a:rPr sz="1200" b="0">
                <a:solidFill>
                  <a:srgbClr val="5B6372"/>
                </a:solidFill>
                <a:latin typeface="Arial"/>
              </a:rPr>
              <a:t>Timed with answers hidden until submission. Use it in your final week.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Free sample</a:t>
            </a:r>
          </a:p>
          <a:p>
            <a:pPr algn="l">
              <a:spcAft>
                <a:spcPts val="300"/>
              </a:spcAft>
            </a:pPr>
            <a:r>
              <a:rPr sz="1200" b="0">
                <a:solidFill>
                  <a:srgbClr val="5B6372"/>
                </a:solidFill>
                <a:latin typeface="Arial"/>
              </a:rPr>
              <a:t>A free sample exam is available with no payment details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Cisco Certified Network Associate (CCNA) Training</a:t>
            </a:r>
          </a:p>
          <a:p>
            <a:pPr algn="l">
              <a:spcAft>
                <a:spcPts val="300"/>
              </a:spcAft>
            </a:pPr>
            <a:r>
              <a:rPr sz="1300" b="0">
                <a:solidFill>
                  <a:srgbClr val="5B6372"/>
                </a:solidFill>
                <a:latin typeface="Arial"/>
              </a:rPr>
              <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Cisco Certified Network Professional (CCNP) for ENARSI Training</a:t>
            </a:r>
          </a:p>
          <a:p>
            <a:pPr algn="l">
              <a:spcAft>
                <a:spcPts val="300"/>
              </a:spcAft>
            </a:pPr>
            <a:r>
              <a:rPr sz="1300" b="0">
                <a:solidFill>
                  <a:srgbClr val="5B6372"/>
                </a:solidFill>
                <a:latin typeface="Arial"/>
              </a:rPr>
              <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Certified Ethical Hacker (CEH) Training</a:t>
            </a:r>
          </a:p>
          <a:p>
            <a:pPr algn="l">
              <a:spcAft>
                <a:spcPts val="300"/>
              </a:spcAft>
            </a:pPr>
            <a:r>
              <a:rPr sz="1300" b="0">
                <a:solidFill>
                  <a:srgbClr val="5B6372"/>
                </a:solidFill>
                <a:latin typeface="Arial"/>
              </a:rPr>
              <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ISC2 Certified Information Systems Security Professional (CISSP) Training</a:t>
            </a:r>
          </a:p>
          <a:p>
            <a:pPr algn="l">
              <a:spcAft>
                <a:spcPts val="300"/>
              </a:spcAft>
            </a:pPr>
            <a:r>
              <a:rPr sz="1300" b="0">
                <a:solidFill>
                  <a:srgbClr val="5B6372"/>
                </a:solidFill>
                <a:latin typeface="Arial"/>
              </a:rPr>
              <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CompTIA Network+ Training</a:t>
            </a:r>
          </a:p>
          <a:p>
            <a:pPr algn="l">
              <a:spcAft>
                <a:spcPts val="300"/>
              </a:spcAft>
            </a:pPr>
            <a:r>
              <a:rPr sz="1300" b="0">
                <a:solidFill>
                  <a:srgbClr val="5B6372"/>
                </a:solidFill>
                <a:latin typeface="Arial"/>
              </a:rPr>
              <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Network Automation with Python and Ansible</a:t>
            </a:r>
          </a:p>
          <a:p>
            <a:pPr algn="l">
              <a:spcAft>
                <a:spcPts val="300"/>
              </a:spcAft>
            </a:pPr>
            <a:r>
              <a:rPr sz="1300" b="0">
                <a:solidFill>
                  <a:srgbClr val="5B6372"/>
                </a:solidFill>
                <a:latin typeface="Arial"/>
              </a:rPr>
              <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 across all six domains.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1 hour · open book · hands-on Cisco configuration and verification tasks.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advClick="1">
    <p:push dir="l"/>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68680"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41248"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72384"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44952"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76088"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48656"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79792"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52360" y="3657600"/>
            <a:ext cx="1691640" cy="640080"/>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0040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11680"/>
            <a:ext cx="1819656" cy="23774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1168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2257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2257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83496" y="2907792"/>
            <a:ext cx="1636776" cy="100584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56064" y="3657600"/>
            <a:ext cx="1691640" cy="640080"/>
          </a:xfrm>
          <a:prstGeom prst="rect">
            <a:avLst/>
          </a:prstGeom>
          <a:noFill/>
        </p:spPr>
        <p:txBody>
          <a:bodyPr wrap="square" anchor="ctr">
            <a:spAutoFit/>
          </a:bodyPr>
          <a:lstStyle/>
          <a:p>
            <a:pPr algn="ctr">
              <a:spcAft>
                <a:spcPts val="0"/>
              </a:spcAft>
            </a:pPr>
            <a:r>
              <a:rPr sz="800" b="0">
                <a:solidFill>
                  <a:srgbClr val="5B6372"/>
                </a:solidFill>
                <a:latin typeface="Arial"/>
              </a:rPr>
              <a:t>Sign the Assessment Summary Record</a:t>
            </a:r>
          </a:p>
        </p:txBody>
      </p:sp>
      <p:sp>
        <p:nvSpPr>
          <p:cNvPr id="41" name="Rectangle 40"/>
          <p:cNvSpPr/>
          <p:nvPr/>
        </p:nvSpPr>
        <p:spPr>
          <a:xfrm>
            <a:off x="777240" y="4626864"/>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26864"/>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36592"/>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47488"/>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GOOD LUCK IN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implement, secure and automate the core technologies of a Cisco enterprise network — and you are ready to sit ENCOR 350-401.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Cisco Certified Network Professional (CCNP) for ENCOR Training  ·  TGS-2024044052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40" name="Picture 39"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